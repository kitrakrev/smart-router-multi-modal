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4400">
                <a:solidFill>
                  <a:srgbClr val="3B82F6"/>
                </a:solidFill>
                <a:latin typeface="Calibri"/>
              </a:rPr>
              <a:t>Smart Router for Multi-Modal LLMs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3200400"/>
            <a:ext cx="57908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200">
                <a:solidFill>
                  <a:srgbClr val="94A3B8"/>
                </a:solidFill>
                <a:latin typeface="Calibri"/>
              </a:rPr>
              <a:t>Intelligent routing with vision, tools, and real-time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800">
                <a:solidFill>
                  <a:srgbClr val="3B82F6"/>
                </a:solidFill>
                <a:latin typeface="Calibri"/>
              </a:rPr>
              <a:t>A10 Networks Hackathon — April 2026
Team: Karthik Raja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Calibri"/>
              </a:defRPr>
            </a:pPr>
            <a:r>
              <a:t>LLM Costs Are Exploding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554480"/>
            <a:ext cx="57908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971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FFFFFF"/>
                </a:solidFill>
                <a:latin typeface="Consolas"/>
              </a:rPr>
              <a:t>"What is 2+2?"</a:t>
            </a:r>
            <a:r>
              <a:rPr b="0" sz="1500">
                <a:solidFill>
                  <a:srgbClr val="EF4444"/>
                </a:solidFill>
                <a:latin typeface="Consolas"/>
              </a:rPr>
              <a:t>   → GPT-4o costs $0.01</a:t>
            </a:r>
            <a:r>
              <a:rPr b="0" sz="1500">
                <a:solidFill>
                  <a:srgbClr val="94A3B8"/>
                </a:solidFill>
                <a:latin typeface="Consolas"/>
              </a:rPr>
              <a:t>     (overkill)</a:t>
            </a:r>
          </a:p>
          <a:p>
            <a:r>
              <a:rPr b="1" sz="1500">
                <a:solidFill>
                  <a:srgbClr val="FFFFFF"/>
                </a:solidFill>
                <a:latin typeface="Consolas"/>
              </a:rPr>
              <a:t>"Prove Riemann"</a:t>
            </a:r>
            <a:r>
              <a:rPr b="0" sz="1500">
                <a:solidFill>
                  <a:srgbClr val="22C55E"/>
                </a:solidFill>
                <a:latin typeface="Consolas"/>
              </a:rPr>
              <a:t>  → GPT-4o costs $0.05</a:t>
            </a:r>
            <a:r>
              <a:rPr b="0" sz="1500">
                <a:solidFill>
                  <a:srgbClr val="94A3B8"/>
                </a:solidFill>
                <a:latin typeface="Consolas"/>
              </a:rPr>
              <a:t>     (justified)</a:t>
            </a:r>
          </a:p>
          <a:p>
            <a:pPr>
              <a:spcBef>
                <a:spcPts val="1400"/>
              </a:spcBef>
            </a:pPr>
            <a:r>
              <a:rPr b="1" sz="1500">
                <a:solidFill>
                  <a:srgbClr val="F97316"/>
                </a:solidFill>
                <a:latin typeface="Consolas"/>
              </a:rPr>
              <a:t>80% of queries are simple → paying 10-50x too much</a:t>
            </a:r>
          </a:p>
          <a:p>
            <a:pPr>
              <a:spcBef>
                <a:spcPts val="2000"/>
              </a:spcBef>
            </a:pPr>
            <a:r>
              <a:rPr b="1" sz="1500">
                <a:solidFill>
                  <a:srgbClr val="FFFFFF"/>
                </a:solidFill>
                <a:latin typeface="Consolas"/>
              </a:rPr>
              <a:t>Without router:  </a:t>
            </a:r>
            <a:r>
              <a:rPr b="1" sz="1500">
                <a:solidFill>
                  <a:srgbClr val="EF4444"/>
                </a:solidFill>
                <a:latin typeface="Consolas"/>
              </a:rPr>
              <a:t>$12.00</a:t>
            </a:r>
            <a:r>
              <a:rPr b="0" sz="1500">
                <a:solidFill>
                  <a:srgbClr val="94A3B8"/>
                </a:solidFill>
                <a:latin typeface="Consolas"/>
              </a:rPr>
              <a:t> per 1K queries</a:t>
            </a:r>
          </a:p>
          <a:p>
            <a:r>
              <a:rPr b="1" sz="1500">
                <a:solidFill>
                  <a:srgbClr val="FFFFFF"/>
                </a:solidFill>
                <a:latin typeface="Consolas"/>
              </a:rPr>
              <a:t>With router:     </a:t>
            </a:r>
            <a:r>
              <a:rPr b="1" sz="1500">
                <a:solidFill>
                  <a:srgbClr val="22C55E"/>
                </a:solidFill>
                <a:latin typeface="Consolas"/>
              </a:rPr>
              <a:t> $0.25</a:t>
            </a:r>
            <a:r>
              <a:rPr b="0" sz="1500">
                <a:solidFill>
                  <a:srgbClr val="94A3B8"/>
                </a:solidFill>
                <a:latin typeface="Consolas"/>
              </a:rPr>
              <a:t> per 1K queries  →  </a:t>
            </a:r>
            <a:r>
              <a:rPr b="1" sz="1500">
                <a:solidFill>
                  <a:srgbClr val="22C55E"/>
                </a:solidFill>
                <a:latin typeface="Consolas"/>
              </a:rPr>
              <a:t>98% savings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Calibri"/>
              </a:defRPr>
            </a:pPr>
            <a:r>
              <a:t>Smart Multi-Modal LLM Router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554480"/>
            <a:ext cx="57908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971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FFFFFF"/>
                </a:solidFill>
                <a:latin typeface="Consolas"/>
              </a:rPr>
              <a:t>Query → [Signals] → [Decision Matcher] → [Budget Selection] → Best Model</a:t>
            </a:r>
          </a:p>
          <a:p>
            <a:pPr>
              <a:spcBef>
                <a:spcPts val="800"/>
              </a:spcBef>
            </a:pPr>
            <a:r>
              <a:rPr b="0" sz="1400">
                <a:solidFill>
                  <a:srgbClr val="3B82F6"/>
                </a:solidFill>
                <a:latin typeface="Consolas"/>
              </a:rPr>
              <a:t>  |        |              |                      |</a:t>
            </a:r>
          </a:p>
          <a:p>
            <a:r>
              <a:rPr b="0" sz="1400">
                <a:solidFill>
                  <a:srgbClr val="3B82F6"/>
                </a:solidFill>
                <a:latin typeface="Consolas"/>
              </a:rPr>
              <a:t>  |    </a:t>
            </a:r>
            <a:r>
              <a:rPr b="0" sz="1400">
                <a:solidFill>
                  <a:srgbClr val="06B6D4"/>
                </a:solidFill>
                <a:latin typeface="Consolas"/>
              </a:rPr>
              <a:t>9 signals</a:t>
            </a:r>
            <a:r>
              <a:rPr b="0" sz="1400">
                <a:solidFill>
                  <a:srgbClr val="3B82F6"/>
                </a:solidFill>
                <a:latin typeface="Consolas"/>
              </a:rPr>
              <a:t>      </a:t>
            </a:r>
            <a:r>
              <a:rPr b="0" sz="1400">
                <a:solidFill>
                  <a:srgbClr val="8B5CF6"/>
                </a:solidFill>
                <a:latin typeface="Consolas"/>
              </a:rPr>
              <a:t>Embedding cosine</a:t>
            </a:r>
            <a:r>
              <a:rPr b="0" sz="1400">
                <a:solidFill>
                  <a:srgbClr val="3B82F6"/>
                </a:solidFill>
                <a:latin typeface="Consolas"/>
              </a:rPr>
              <a:t>      </a:t>
            </a:r>
            <a:r>
              <a:rPr b="0" sz="1400">
                <a:solidFill>
                  <a:srgbClr val="22C55E"/>
                </a:solidFill>
                <a:latin typeface="Consolas"/>
              </a:rPr>
              <a:t>Cheapest model</a:t>
            </a:r>
          </a:p>
          <a:p>
            <a:r>
              <a:rPr b="0" sz="1400">
                <a:solidFill>
                  <a:srgbClr val="3B82F6"/>
                </a:solidFill>
                <a:latin typeface="Consolas"/>
              </a:rPr>
              <a:t>  |    </a:t>
            </a:r>
            <a:r>
              <a:rPr b="0" sz="1400">
                <a:solidFill>
                  <a:srgbClr val="06B6D4"/>
                </a:solidFill>
                <a:latin typeface="Consolas"/>
              </a:rPr>
              <a:t>in parallel</a:t>
            </a:r>
            <a:r>
              <a:rPr b="0" sz="1400">
                <a:solidFill>
                  <a:srgbClr val="3B82F6"/>
                </a:solidFill>
                <a:latin typeface="Consolas"/>
              </a:rPr>
              <a:t>    </a:t>
            </a:r>
            <a:r>
              <a:rPr b="0" sz="1400">
                <a:solidFill>
                  <a:srgbClr val="8B5CF6"/>
                </a:solidFill>
                <a:latin typeface="Consolas"/>
              </a:rPr>
              <a:t>to decision exemplars</a:t>
            </a:r>
            <a:r>
              <a:rPr b="0" sz="1400">
                <a:solidFill>
                  <a:srgbClr val="3B82F6"/>
                </a:solidFill>
                <a:latin typeface="Consolas"/>
              </a:rPr>
              <a:t>  </a:t>
            </a:r>
            <a:r>
              <a:rPr b="0" sz="1400">
                <a:solidFill>
                  <a:srgbClr val="22C55E"/>
                </a:solidFill>
                <a:latin typeface="Consolas"/>
              </a:rPr>
              <a:t>with required</a:t>
            </a:r>
          </a:p>
          <a:p>
            <a:r>
              <a:rPr b="0" sz="1400">
                <a:solidFill>
                  <a:srgbClr val="3B82F6"/>
                </a:solidFill>
                <a:latin typeface="Consolas"/>
              </a:rPr>
              <a:t>  |    </a:t>
            </a:r>
            <a:r>
              <a:rPr b="0" sz="1400">
                <a:solidFill>
                  <a:srgbClr val="06B6D4"/>
                </a:solidFill>
                <a:latin typeface="Consolas"/>
              </a:rPr>
              <a:t>(10ms)</a:t>
            </a:r>
            <a:r>
              <a:rPr b="0" sz="1400">
                <a:solidFill>
                  <a:srgbClr val="3B82F6"/>
                </a:solidFill>
                <a:latin typeface="Consolas"/>
              </a:rPr>
              <a:t>         </a:t>
            </a:r>
            <a:r>
              <a:rPr b="0" sz="1400">
                <a:solidFill>
                  <a:srgbClr val="8B5CF6"/>
                </a:solidFill>
                <a:latin typeface="Consolas"/>
              </a:rPr>
              <a:t>(vLLM-SR style)</a:t>
            </a:r>
            <a:r>
              <a:rPr b="0" sz="1400">
                <a:solidFill>
                  <a:srgbClr val="3B82F6"/>
                </a:solidFill>
                <a:latin typeface="Consolas"/>
              </a:rPr>
              <a:t>       </a:t>
            </a:r>
            <a:r>
              <a:rPr b="0" sz="1400">
                <a:solidFill>
                  <a:srgbClr val="22C55E"/>
                </a:solidFill>
                <a:latin typeface="Consolas"/>
              </a:rPr>
              <a:t>capabilities</a:t>
            </a:r>
          </a:p>
          <a:p>
            <a:pPr>
              <a:spcBef>
                <a:spcPts val="800"/>
              </a:spcBef>
            </a:pPr>
            <a:r>
              <a:rPr b="0" sz="1400">
                <a:solidFill>
                  <a:srgbClr val="3B82F6"/>
                </a:solidFill>
                <a:latin typeface="Consolas"/>
              </a:rPr>
              <a:t>  |— </a:t>
            </a:r>
            <a:r>
              <a:rPr b="1" sz="1400">
                <a:solidFill>
                  <a:srgbClr val="F97316"/>
                </a:solidFill>
                <a:latin typeface="Consolas"/>
              </a:rPr>
              <a:t>Guardrails:</a:t>
            </a:r>
            <a:r>
              <a:rPr b="0" sz="1400">
                <a:solidFill>
                  <a:srgbClr val="94A3B8"/>
                </a:solidFill>
                <a:latin typeface="Consolas"/>
              </a:rPr>
              <a:t> jailbreak + PII detection</a:t>
            </a:r>
          </a:p>
          <a:p>
            <a:r>
              <a:rPr b="0" sz="1400">
                <a:solidFill>
                  <a:srgbClr val="3B82F6"/>
                </a:solidFill>
                <a:latin typeface="Consolas"/>
              </a:rPr>
              <a:t>  |— </a:t>
            </a:r>
            <a:r>
              <a:rPr b="1" sz="1400">
                <a:solidFill>
                  <a:srgbClr val="06B6D4"/>
                </a:solidFill>
                <a:latin typeface="Consolas"/>
              </a:rPr>
              <a:t>Vision:</a:t>
            </a:r>
            <a:r>
              <a:rPr b="0" sz="1400">
                <a:solidFill>
                  <a:srgbClr val="94A3B8"/>
                </a:solidFill>
                <a:latin typeface="Consolas"/>
              </a:rPr>
              <a:t> image-aware routing</a:t>
            </a:r>
          </a:p>
          <a:p>
            <a:r>
              <a:rPr b="0" sz="1400">
                <a:solidFill>
                  <a:srgbClr val="3B82F6"/>
                </a:solidFill>
                <a:latin typeface="Consolas"/>
              </a:rPr>
              <a:t>  |— </a:t>
            </a:r>
            <a:r>
              <a:rPr b="1" sz="1400">
                <a:solidFill>
                  <a:srgbClr val="8B5CF6"/>
                </a:solidFill>
                <a:latin typeface="Consolas"/>
              </a:rPr>
              <a:t>Tools:</a:t>
            </a:r>
            <a:r>
              <a:rPr b="0" sz="1400">
                <a:solidFill>
                  <a:srgbClr val="94A3B8"/>
                </a:solidFill>
                <a:latin typeface="Consolas"/>
              </a:rPr>
              <a:t> function calling support</a:t>
            </a:r>
          </a:p>
          <a:p>
            <a:r>
              <a:rPr b="0" sz="1400">
                <a:solidFill>
                  <a:srgbClr val="3B82F6"/>
                </a:solidFill>
                <a:latin typeface="Consolas"/>
              </a:rPr>
              <a:t>  |— </a:t>
            </a:r>
            <a:r>
              <a:rPr b="1" sz="1400">
                <a:solidFill>
                  <a:srgbClr val="22C55E"/>
                </a:solidFill>
                <a:latin typeface="Consolas"/>
              </a:rPr>
              <a:t>Adaptive:</a:t>
            </a:r>
            <a:r>
              <a:rPr b="0" sz="1400">
                <a:solidFill>
                  <a:srgbClr val="94A3B8"/>
                </a:solidFill>
                <a:latin typeface="Consolas"/>
              </a:rPr>
              <a:t> auto-disable degraded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554480"/>
            <a:ext cx="57908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448495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3B82F6"/>
                </a:solidFill>
                <a:latin typeface="Consolas"/>
              </a:rPr>
              <a:t>+-----------------------------------------------------+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  <a:r>
              <a:rPr b="0" sz="1200">
                <a:solidFill>
                  <a:srgbClr val="94A3B8"/>
                </a:solidFill>
                <a:latin typeface="Consolas"/>
              </a:rPr>
              <a:t>                   </a:t>
            </a:r>
            <a:r>
              <a:rPr b="0" sz="1200">
                <a:solidFill>
                  <a:srgbClr val="FFFFFF"/>
                </a:solidFill>
                <a:latin typeface="Consolas"/>
              </a:rPr>
              <a:t>FastAPI Server</a:t>
            </a:r>
            <a:r>
              <a:rPr b="0" sz="1200">
                <a:solidFill>
                  <a:srgbClr val="94A3B8"/>
                </a:solidFill>
                <a:latin typeface="Consolas"/>
              </a:rPr>
              <a:t>                     </a:t>
            </a: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  <a:r>
              <a:rPr b="0" sz="1200">
                <a:solidFill>
                  <a:srgbClr val="94A3B8"/>
                </a:solidFill>
                <a:latin typeface="Consolas"/>
              </a:rPr>
              <a:t>              </a:t>
            </a:r>
            <a:r>
              <a:rPr b="0" sz="1200">
                <a:solidFill>
                  <a:srgbClr val="06B6D4"/>
                </a:solidFill>
                <a:latin typeface="Consolas"/>
              </a:rPr>
              <a:t>OpenAI-Compatible API</a:t>
            </a:r>
            <a:r>
              <a:rPr b="0" sz="1200">
                <a:solidFill>
                  <a:srgbClr val="94A3B8"/>
                </a:solidFill>
                <a:latin typeface="Consolas"/>
              </a:rPr>
              <a:t>                   </a:t>
            </a: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3B82F6"/>
                </a:solidFill>
                <a:latin typeface="Consolas"/>
              </a:rPr>
              <a:t>+-----------------------------------------------------+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  <a:r>
              <a:rPr b="0" sz="1200">
                <a:solidFill>
                  <a:srgbClr val="94A3B8"/>
                </a:solidFill>
                <a:latin typeface="Consolas"/>
              </a:rPr>
              <a:t>                                                      </a:t>
            </a: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  <a:r>
              <a:rPr b="0" sz="1200">
                <a:solidFill>
                  <a:srgbClr val="94A3B8"/>
                </a:solidFill>
                <a:latin typeface="Consolas"/>
              </a:rPr>
              <a:t>  Request → </a:t>
            </a:r>
            <a:r>
              <a:rPr b="0" sz="1200">
                <a:solidFill>
                  <a:srgbClr val="EF4444"/>
                </a:solidFill>
                <a:latin typeface="Consolas"/>
              </a:rPr>
              <a:t>Guardrails</a:t>
            </a:r>
            <a:r>
              <a:rPr b="0" sz="1200">
                <a:solidFill>
                  <a:srgbClr val="94A3B8"/>
                </a:solidFill>
                <a:latin typeface="Consolas"/>
              </a:rPr>
              <a:t> → </a:t>
            </a:r>
            <a:r>
              <a:rPr b="0" sz="1200">
                <a:solidFill>
                  <a:srgbClr val="06B6D4"/>
                </a:solidFill>
                <a:latin typeface="Consolas"/>
              </a:rPr>
              <a:t>Signals</a:t>
            </a:r>
            <a:r>
              <a:rPr b="0" sz="1200">
                <a:solidFill>
                  <a:srgbClr val="94A3B8"/>
                </a:solidFill>
                <a:latin typeface="Consolas"/>
              </a:rPr>
              <a:t> → </a:t>
            </a:r>
            <a:r>
              <a:rPr b="0" sz="1200">
                <a:solidFill>
                  <a:srgbClr val="8B5CF6"/>
                </a:solidFill>
                <a:latin typeface="Consolas"/>
              </a:rPr>
              <a:t>Decision</a:t>
            </a:r>
            <a:r>
              <a:rPr b="0" sz="1200">
                <a:solidFill>
                  <a:srgbClr val="94A3B8"/>
                </a:solidFill>
                <a:latin typeface="Consolas"/>
              </a:rPr>
              <a:t> → </a:t>
            </a:r>
            <a:r>
              <a:rPr b="0" sz="1200">
                <a:solidFill>
                  <a:srgbClr val="22C55E"/>
                </a:solidFill>
                <a:latin typeface="Consolas"/>
              </a:rPr>
              <a:t>Model</a:t>
            </a:r>
            <a:r>
              <a:rPr b="0" sz="1200">
                <a:solidFill>
                  <a:srgbClr val="94A3B8"/>
                </a:solidFill>
                <a:latin typeface="Consolas"/>
              </a:rPr>
              <a:t>  </a:t>
            </a: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  <a:r>
              <a:rPr b="0" sz="1200">
                <a:solidFill>
                  <a:srgbClr val="94A3B8"/>
                </a:solidFill>
                <a:latin typeface="Consolas"/>
              </a:rPr>
              <a:t>              </a:t>
            </a:r>
            <a:r>
              <a:rPr b="0" sz="1200">
                <a:solidFill>
                  <a:srgbClr val="EF4444"/>
                </a:solidFill>
                <a:latin typeface="Consolas"/>
              </a:rPr>
              <a:t>|</a:t>
            </a:r>
            <a:r>
              <a:rPr b="0" sz="1200">
                <a:solidFill>
                  <a:srgbClr val="94A3B8"/>
                </a:solidFill>
                <a:latin typeface="Consolas"/>
              </a:rPr>
              <a:t>            </a:t>
            </a:r>
            <a:r>
              <a:rPr b="0" sz="1200">
                <a:solidFill>
                  <a:srgbClr val="06B6D4"/>
                </a:solidFill>
                <a:latin typeface="Consolas"/>
              </a:rPr>
              <a:t>|</a:t>
            </a:r>
            <a:r>
              <a:rPr b="0" sz="1200">
                <a:solidFill>
                  <a:srgbClr val="94A3B8"/>
                </a:solidFill>
                <a:latin typeface="Consolas"/>
              </a:rPr>
              <a:t>          </a:t>
            </a:r>
            <a:r>
              <a:rPr b="0" sz="1200">
                <a:solidFill>
                  <a:srgbClr val="8B5CF6"/>
                </a:solidFill>
                <a:latin typeface="Consolas"/>
              </a:rPr>
              <a:t>|</a:t>
            </a:r>
            <a:r>
              <a:rPr b="0" sz="1200">
                <a:solidFill>
                  <a:srgbClr val="94A3B8"/>
                </a:solidFill>
                <a:latin typeface="Consolas"/>
              </a:rPr>
              <a:t>          </a:t>
            </a:r>
            <a:r>
              <a:rPr b="0" sz="1200">
                <a:solidFill>
                  <a:srgbClr val="22C55E"/>
                </a:solidFill>
                <a:latin typeface="Consolas"/>
              </a:rPr>
              <a:t>|</a:t>
            </a:r>
            <a:r>
              <a:rPr b="0" sz="1200">
                <a:solidFill>
                  <a:srgbClr val="94A3B8"/>
                </a:solidFill>
                <a:latin typeface="Consolas"/>
              </a:rPr>
              <a:t>     </a:t>
            </a: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  <a:r>
              <a:rPr b="0" sz="1200">
                <a:solidFill>
                  <a:srgbClr val="94A3B8"/>
                </a:solidFill>
                <a:latin typeface="Consolas"/>
              </a:rPr>
              <a:t>          </a:t>
            </a:r>
            <a:r>
              <a:rPr b="0" sz="1200">
                <a:solidFill>
                  <a:srgbClr val="EF4444"/>
                </a:solidFill>
                <a:latin typeface="Consolas"/>
              </a:rPr>
              <a:t>jailbreak</a:t>
            </a:r>
            <a:r>
              <a:rPr b="0" sz="1200">
                <a:solidFill>
                  <a:srgbClr val="94A3B8"/>
                </a:solidFill>
                <a:latin typeface="Consolas"/>
              </a:rPr>
              <a:t>    </a:t>
            </a:r>
            <a:r>
              <a:rPr b="0" sz="1200">
                <a:solidFill>
                  <a:srgbClr val="06B6D4"/>
                </a:solidFill>
                <a:latin typeface="Consolas"/>
              </a:rPr>
              <a:t>keyword</a:t>
            </a:r>
            <a:r>
              <a:rPr b="0" sz="1200">
                <a:solidFill>
                  <a:srgbClr val="94A3B8"/>
                </a:solidFill>
                <a:latin typeface="Consolas"/>
              </a:rPr>
              <a:t>     </a:t>
            </a:r>
            <a:r>
              <a:rPr b="0" sz="1200">
                <a:solidFill>
                  <a:srgbClr val="8B5CF6"/>
                </a:solidFill>
                <a:latin typeface="Consolas"/>
              </a:rPr>
              <a:t>embedding</a:t>
            </a:r>
            <a:r>
              <a:rPr b="0" sz="1200">
                <a:solidFill>
                  <a:srgbClr val="94A3B8"/>
                </a:solidFill>
                <a:latin typeface="Consolas"/>
              </a:rPr>
              <a:t>   </a:t>
            </a:r>
            <a:r>
              <a:rPr b="0" sz="1200">
                <a:solidFill>
                  <a:srgbClr val="22C55E"/>
                </a:solidFill>
                <a:latin typeface="Consolas"/>
              </a:rPr>
              <a:t>budget</a:t>
            </a:r>
            <a:r>
              <a:rPr b="0" sz="1200">
                <a:solidFill>
                  <a:srgbClr val="94A3B8"/>
                </a:solidFill>
                <a:latin typeface="Consolas"/>
              </a:rPr>
              <a:t>  </a:t>
            </a: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  <a:r>
              <a:rPr b="0" sz="1200">
                <a:solidFill>
                  <a:srgbClr val="94A3B8"/>
                </a:solidFill>
                <a:latin typeface="Consolas"/>
              </a:rPr>
              <a:t>          </a:t>
            </a:r>
            <a:r>
              <a:rPr b="0" sz="1200">
                <a:solidFill>
                  <a:srgbClr val="EF4444"/>
                </a:solidFill>
                <a:latin typeface="Consolas"/>
              </a:rPr>
              <a:t>PII</a:t>
            </a:r>
            <a:r>
              <a:rPr b="0" sz="1200">
                <a:solidFill>
                  <a:srgbClr val="94A3B8"/>
                </a:solidFill>
                <a:latin typeface="Consolas"/>
              </a:rPr>
              <a:t>         </a:t>
            </a:r>
            <a:r>
              <a:rPr b="0" sz="1200">
                <a:solidFill>
                  <a:srgbClr val="06B6D4"/>
                </a:solidFill>
                <a:latin typeface="Consolas"/>
              </a:rPr>
              <a:t>domain</a:t>
            </a:r>
            <a:r>
              <a:rPr b="0" sz="1200">
                <a:solidFill>
                  <a:srgbClr val="94A3B8"/>
                </a:solidFill>
                <a:latin typeface="Consolas"/>
              </a:rPr>
              <a:t>      </a:t>
            </a:r>
            <a:r>
              <a:rPr b="0" sz="1200">
                <a:solidFill>
                  <a:srgbClr val="8B5CF6"/>
                </a:solidFill>
                <a:latin typeface="Consolas"/>
              </a:rPr>
              <a:t>match to</a:t>
            </a:r>
            <a:r>
              <a:rPr b="0" sz="1200">
                <a:solidFill>
                  <a:srgbClr val="94A3B8"/>
                </a:solidFill>
                <a:latin typeface="Consolas"/>
              </a:rPr>
              <a:t>    </a:t>
            </a:r>
            <a:r>
              <a:rPr b="0" sz="1200">
                <a:solidFill>
                  <a:srgbClr val="22C55E"/>
                </a:solidFill>
                <a:latin typeface="Consolas"/>
              </a:rPr>
              <a:t>aware</a:t>
            </a:r>
            <a:r>
              <a:rPr b="0" sz="1200">
                <a:solidFill>
                  <a:srgbClr val="94A3B8"/>
                </a:solidFill>
                <a:latin typeface="Consolas"/>
              </a:rPr>
              <a:t>   </a:t>
            </a: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  <a:r>
              <a:rPr b="0" sz="1200">
                <a:solidFill>
                  <a:srgbClr val="94A3B8"/>
                </a:solidFill>
                <a:latin typeface="Consolas"/>
              </a:rPr>
              <a:t>                      </a:t>
            </a:r>
            <a:r>
              <a:rPr b="0" sz="1200">
                <a:solidFill>
                  <a:srgbClr val="06B6D4"/>
                </a:solidFill>
                <a:latin typeface="Consolas"/>
              </a:rPr>
              <a:t>complexity</a:t>
            </a:r>
            <a:r>
              <a:rPr b="0" sz="1200">
                <a:solidFill>
                  <a:srgbClr val="94A3B8"/>
                </a:solidFill>
                <a:latin typeface="Consolas"/>
              </a:rPr>
              <a:t>  </a:t>
            </a:r>
            <a:r>
              <a:rPr b="0" sz="1200">
                <a:solidFill>
                  <a:srgbClr val="8B5CF6"/>
                </a:solidFill>
                <a:latin typeface="Consolas"/>
              </a:rPr>
              <a:t>exemplars</a:t>
            </a:r>
            <a:r>
              <a:rPr b="0" sz="1200">
                <a:solidFill>
                  <a:srgbClr val="94A3B8"/>
                </a:solidFill>
                <a:latin typeface="Consolas"/>
              </a:rPr>
              <a:t>   </a:t>
            </a:r>
            <a:r>
              <a:rPr b="0" sz="1200">
                <a:solidFill>
                  <a:srgbClr val="22C55E"/>
                </a:solidFill>
                <a:latin typeface="Consolas"/>
              </a:rPr>
              <a:t>select</a:t>
            </a:r>
            <a:r>
              <a:rPr b="0" sz="1200">
                <a:solidFill>
                  <a:srgbClr val="94A3B8"/>
                </a:solidFill>
                <a:latin typeface="Consolas"/>
              </a:rPr>
              <a:t>  </a:t>
            </a: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  <a:r>
              <a:rPr b="0" sz="1200">
                <a:solidFill>
                  <a:srgbClr val="94A3B8"/>
                </a:solidFill>
                <a:latin typeface="Consolas"/>
              </a:rPr>
              <a:t>                      </a:t>
            </a:r>
            <a:r>
              <a:rPr b="0" sz="1200">
                <a:solidFill>
                  <a:srgbClr val="06B6D4"/>
                </a:solidFill>
                <a:latin typeface="Consolas"/>
              </a:rPr>
              <a:t>language</a:t>
            </a:r>
            <a:r>
              <a:rPr b="0" sz="1200">
                <a:solidFill>
                  <a:srgbClr val="94A3B8"/>
                </a:solidFill>
                <a:latin typeface="Consolas"/>
              </a:rPr>
              <a:t>                         </a:t>
            </a: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  <a:r>
              <a:rPr b="0" sz="1200">
                <a:solidFill>
                  <a:srgbClr val="94A3B8"/>
                </a:solidFill>
                <a:latin typeface="Consolas"/>
              </a:rPr>
              <a:t>                      </a:t>
            </a:r>
            <a:r>
              <a:rPr b="0" sz="1200">
                <a:solidFill>
                  <a:srgbClr val="06B6D4"/>
                </a:solidFill>
                <a:latin typeface="Consolas"/>
              </a:rPr>
              <a:t>vision</a:t>
            </a:r>
            <a:r>
              <a:rPr b="0" sz="1200">
                <a:solidFill>
                  <a:srgbClr val="94A3B8"/>
                </a:solidFill>
                <a:latin typeface="Consolas"/>
              </a:rPr>
              <a:t>                           </a:t>
            </a: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  <a:r>
              <a:rPr b="0" sz="1200">
                <a:solidFill>
                  <a:srgbClr val="94A3B8"/>
                </a:solidFill>
                <a:latin typeface="Consolas"/>
              </a:rPr>
              <a:t>                      </a:t>
            </a:r>
            <a:r>
              <a:rPr b="0" sz="1200">
                <a:solidFill>
                  <a:srgbClr val="06B6D4"/>
                </a:solidFill>
                <a:latin typeface="Consolas"/>
              </a:rPr>
              <a:t>tools</a:t>
            </a:r>
            <a:r>
              <a:rPr b="0" sz="1200">
                <a:solidFill>
                  <a:srgbClr val="94A3B8"/>
                </a:solidFill>
                <a:latin typeface="Consolas"/>
              </a:rPr>
              <a:t>                            </a:t>
            </a: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  <a:r>
              <a:rPr b="0" sz="1200">
                <a:solidFill>
                  <a:srgbClr val="94A3B8"/>
                </a:solidFill>
                <a:latin typeface="Consolas"/>
              </a:rPr>
              <a:t>                      </a:t>
            </a:r>
            <a:r>
              <a:rPr b="0" sz="1200">
                <a:solidFill>
                  <a:srgbClr val="06B6D4"/>
                </a:solidFill>
                <a:latin typeface="Consolas"/>
              </a:rPr>
              <a:t>modality</a:t>
            </a:r>
            <a:r>
              <a:rPr b="0" sz="1200">
                <a:solidFill>
                  <a:srgbClr val="94A3B8"/>
                </a:solidFill>
                <a:latin typeface="Consolas"/>
              </a:rPr>
              <a:t>                         </a:t>
            </a: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  <a:r>
              <a:rPr b="0" sz="1200">
                <a:solidFill>
                  <a:srgbClr val="94A3B8"/>
                </a:solidFill>
                <a:latin typeface="Consolas"/>
              </a:rPr>
              <a:t>                                                      </a:t>
            </a: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3B82F6"/>
                </a:solidFill>
                <a:latin typeface="Consolas"/>
              </a:rPr>
              <a:t>+-----------------------------------------------------+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  <a:r>
              <a:rPr b="0" sz="1200">
                <a:solidFill>
                  <a:srgbClr val="94A3B8"/>
                </a:solidFill>
                <a:latin typeface="Consolas"/>
              </a:rPr>
              <a:t> </a:t>
            </a:r>
            <a:r>
              <a:rPr b="0" sz="1200">
                <a:solidFill>
                  <a:srgbClr val="FFFFFF"/>
                </a:solidFill>
                <a:latin typeface="Consolas"/>
              </a:rPr>
              <a:t>Model Registry</a:t>
            </a:r>
            <a:r>
              <a:rPr b="0" sz="1200">
                <a:solidFill>
                  <a:srgbClr val="94A3B8"/>
                </a:solidFill>
                <a:latin typeface="Consolas"/>
              </a:rPr>
              <a:t>    </a:t>
            </a: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  <a:r>
              <a:rPr b="0" sz="1200">
                <a:solidFill>
                  <a:srgbClr val="94A3B8"/>
                </a:solidFill>
                <a:latin typeface="Consolas"/>
              </a:rPr>
              <a:t>  </a:t>
            </a:r>
            <a:r>
              <a:rPr b="0" sz="1200">
                <a:solidFill>
                  <a:srgbClr val="FFFFFF"/>
                </a:solidFill>
                <a:latin typeface="Consolas"/>
              </a:rPr>
              <a:t>Adaptive Routing</a:t>
            </a:r>
            <a:r>
              <a:rPr b="0" sz="1200">
                <a:solidFill>
                  <a:srgbClr val="94A3B8"/>
                </a:solidFill>
                <a:latin typeface="Consolas"/>
              </a:rPr>
              <a:t>  </a:t>
            </a: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  <a:r>
              <a:rPr b="0" sz="1200">
                <a:solidFill>
                  <a:srgbClr val="94A3B8"/>
                </a:solidFill>
                <a:latin typeface="Consolas"/>
              </a:rPr>
              <a:t> </a:t>
            </a:r>
            <a:r>
              <a:rPr b="0" sz="1200">
                <a:solidFill>
                  <a:srgbClr val="FFFFFF"/>
                </a:solidFill>
                <a:latin typeface="Consolas"/>
              </a:rPr>
              <a:t>Dashboard</a:t>
            </a:r>
            <a:r>
              <a:rPr b="0" sz="1200">
                <a:solidFill>
                  <a:srgbClr val="94A3B8"/>
                </a:solidFill>
                <a:latin typeface="Consolas"/>
              </a:rPr>
              <a:t>  </a:t>
            </a: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  <a:r>
              <a:rPr b="0" sz="1200">
                <a:solidFill>
                  <a:srgbClr val="94A3B8"/>
                </a:solidFill>
                <a:latin typeface="Consolas"/>
              </a:rPr>
              <a:t> Add/remove/discover </a:t>
            </a: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  <a:r>
              <a:rPr b="0" sz="1200">
                <a:solidFill>
                  <a:srgbClr val="94A3B8"/>
                </a:solidFill>
                <a:latin typeface="Consolas"/>
              </a:rPr>
              <a:t>  Auto-disable/recover </a:t>
            </a: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  <a:r>
              <a:rPr b="0" sz="1200">
                <a:solidFill>
                  <a:srgbClr val="94A3B8"/>
                </a:solidFill>
                <a:latin typeface="Consolas"/>
              </a:rPr>
              <a:t> 5-tab UI  </a:t>
            </a: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  <a:r>
              <a:rPr b="0" sz="1200">
                <a:solidFill>
                  <a:srgbClr val="94A3B8"/>
                </a:solidFill>
                <a:latin typeface="Consolas"/>
              </a:rPr>
              <a:t> at runtime          </a:t>
            </a: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  <a:r>
              <a:rPr b="0" sz="1200">
                <a:solidFill>
                  <a:srgbClr val="94A3B8"/>
                </a:solidFill>
                <a:latin typeface="Consolas"/>
              </a:rPr>
              <a:t>  EMA stats           </a:t>
            </a: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  <a:r>
              <a:rPr b="0" sz="1200">
                <a:solidFill>
                  <a:srgbClr val="94A3B8"/>
                </a:solidFill>
                <a:latin typeface="Consolas"/>
              </a:rPr>
              <a:t> WebSocket </a:t>
            </a:r>
            <a:r>
              <a:rPr b="0" sz="1200">
                <a:solidFill>
                  <a:srgbClr val="3B82F6"/>
                </a:solidFill>
                <a:latin typeface="Consolas"/>
              </a:rPr>
              <a:t>|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3B82F6"/>
                </a:solidFill>
                <a:latin typeface="Consolas"/>
              </a:rPr>
              <a:t>+-----------------------------------------------------+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Calibri"/>
              </a:defRPr>
            </a:pPr>
            <a:r>
              <a:t>Why Embedding Match, Not Rules?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554480"/>
            <a:ext cx="57908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EF4444"/>
                </a:solidFill>
                <a:latin typeface="Calibri"/>
              </a:rPr>
              <a:t>Rule-Based Routing (Brittle)</a:t>
            </a:r>
          </a:p>
          <a:p>
            <a:pPr>
              <a:spcBef>
                <a:spcPts val="1400"/>
              </a:spcBef>
            </a:pPr>
            <a:r>
              <a:rPr b="0" sz="1400">
                <a:solidFill>
                  <a:srgbClr val="94A3B8"/>
                </a:solidFill>
                <a:latin typeface="Consolas"/>
              </a:rPr>
              <a:t>if </a:t>
            </a:r>
            <a:r>
              <a:rPr b="0" sz="1500">
                <a:solidFill>
                  <a:srgbClr val="F97316"/>
                </a:solidFill>
                <a:latin typeface="Consolas"/>
              </a:rPr>
              <a:t>"prove"</a:t>
            </a:r>
            <a:r>
              <a:rPr b="0" sz="1500">
                <a:solidFill>
                  <a:srgbClr val="94A3B8"/>
                </a:solidFill>
                <a:latin typeface="Consolas"/>
              </a:rPr>
              <a:t> in query → math</a:t>
            </a:r>
          </a:p>
          <a:p>
            <a:r>
              <a:rPr b="0" sz="1400">
                <a:solidFill>
                  <a:srgbClr val="94A3B8"/>
                </a:solidFill>
                <a:latin typeface="Consolas"/>
              </a:rPr>
              <a:t>if </a:t>
            </a:r>
            <a:r>
              <a:rPr b="0" sz="1500">
                <a:solidFill>
                  <a:srgbClr val="F97316"/>
                </a:solidFill>
                <a:latin typeface="Consolas"/>
              </a:rPr>
              <a:t>"code"</a:t>
            </a:r>
            <a:r>
              <a:rPr b="0" sz="1500">
                <a:solidFill>
                  <a:srgbClr val="94A3B8"/>
                </a:solidFill>
                <a:latin typeface="Consolas"/>
              </a:rPr>
              <a:t> in query → code</a:t>
            </a:r>
          </a:p>
          <a:p>
            <a:r>
              <a:rPr b="0" sz="1400">
                <a:solidFill>
                  <a:srgbClr val="94A3B8"/>
                </a:solidFill>
                <a:latin typeface="Consolas"/>
              </a:rPr>
              <a:t>if </a:t>
            </a:r>
            <a:r>
              <a:rPr b="0" sz="1500">
                <a:solidFill>
                  <a:srgbClr val="F97316"/>
                </a:solidFill>
                <a:latin typeface="Consolas"/>
              </a:rPr>
              <a:t>"write"</a:t>
            </a:r>
            <a:r>
              <a:rPr b="0" sz="1500">
                <a:solidFill>
                  <a:srgbClr val="94A3B8"/>
                </a:solidFill>
                <a:latin typeface="Consolas"/>
              </a:rPr>
              <a:t> in query → ???</a:t>
            </a:r>
          </a:p>
          <a:p>
            <a:pPr>
              <a:spcBef>
                <a:spcPts val="1200"/>
              </a:spcBef>
            </a:pPr>
            <a:r>
              <a:rPr b="1" sz="1500">
                <a:solidFill>
                  <a:srgbClr val="EF4444"/>
                </a:solidFill>
                <a:latin typeface="Consolas"/>
              </a:rPr>
              <a:t>Breaks on: </a:t>
            </a:r>
            <a:r>
              <a:rPr b="0" sz="1500">
                <a:solidFill>
                  <a:srgbClr val="94A3B8"/>
                </a:solidFill>
                <a:latin typeface="Consolas"/>
              </a:rPr>
              <a:t>"analyze this
function's time complexity"</a:t>
            </a:r>
          </a:p>
          <a:p>
            <a:pPr>
              <a:spcBef>
                <a:spcPts val="800"/>
              </a:spcBef>
            </a:pPr>
            <a:r>
              <a:rPr b="0" sz="1500">
                <a:solidFill>
                  <a:srgbClr val="94A3B8"/>
                </a:solidFill>
                <a:latin typeface="Consolas"/>
              </a:rPr>
              <a:t>Manual rules for every edge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1031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22C55E"/>
                </a:solidFill>
                <a:latin typeface="Calibri"/>
              </a:rPr>
              <a:t>Embedding Match (Robust)</a:t>
            </a:r>
          </a:p>
          <a:p>
            <a:pPr>
              <a:spcBef>
                <a:spcPts val="1400"/>
              </a:spcBef>
            </a:pPr>
            <a:r>
              <a:rPr b="0" sz="1500">
                <a:solidFill>
                  <a:srgbClr val="94A3B8"/>
                </a:solidFill>
                <a:latin typeface="Consolas"/>
              </a:rPr>
              <a:t>query embed → </a:t>
            </a:r>
            <a:r>
              <a:rPr b="0" sz="1500">
                <a:solidFill>
                  <a:srgbClr val="8B5CF6"/>
                </a:solidFill>
                <a:latin typeface="Consolas"/>
              </a:rPr>
              <a:t>cosine sim</a:t>
            </a:r>
          </a:p>
          <a:p>
            <a:r>
              <a:rPr b="0" sz="1500">
                <a:solidFill>
                  <a:srgbClr val="94A3B8"/>
                </a:solidFill>
                <a:latin typeface="Consolas"/>
              </a:rPr>
              <a:t>to decision exemplar centroids</a:t>
            </a:r>
          </a:p>
          <a:p>
            <a:pPr>
              <a:spcBef>
                <a:spcPts val="1200"/>
              </a:spcBef>
            </a:pPr>
            <a:r>
              <a:rPr b="0" sz="1500">
                <a:solidFill>
                  <a:srgbClr val="94A3B8"/>
                </a:solidFill>
                <a:latin typeface="Consolas"/>
              </a:rPr>
              <a:t>"analyze complexity" → </a:t>
            </a:r>
            <a:r>
              <a:rPr b="0" sz="1500">
                <a:solidFill>
                  <a:srgbClr val="22C55E"/>
                </a:solidFill>
                <a:latin typeface="Consolas"/>
              </a:rPr>
              <a:t>code (0.48)</a:t>
            </a:r>
          </a:p>
          <a:p>
            <a:r>
              <a:rPr b="0" sz="1500">
                <a:solidFill>
                  <a:srgbClr val="94A3B8"/>
                </a:solidFill>
                <a:latin typeface="Consolas"/>
              </a:rPr>
              <a:t>NOT math, NOT creative</a:t>
            </a:r>
          </a:p>
          <a:p>
            <a:r>
              <a:rPr b="1" sz="1500">
                <a:solidFill>
                  <a:srgbClr val="22C55E"/>
                </a:solidFill>
                <a:latin typeface="Consolas"/>
              </a:rPr>
              <a:t>Handles ambiguity naturally</a:t>
            </a:r>
          </a:p>
          <a:p>
            <a:pPr>
              <a:spcBef>
                <a:spcPts val="1200"/>
              </a:spcBef>
            </a:pPr>
            <a:r>
              <a:rPr b="0" sz="1500">
                <a:solidFill>
                  <a:srgbClr val="94A3B8"/>
                </a:solidFill>
                <a:latin typeface="Consolas"/>
              </a:rPr>
              <a:t>Just add exemplars to YAML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Calibri"/>
              </a:defRPr>
            </a:pPr>
            <a:r>
              <a:t>Budget-Aware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554480"/>
            <a:ext cx="57908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971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FFFFFF"/>
                </a:solidFill>
                <a:latin typeface="Calibri"/>
              </a:rPr>
              <a:t>Not Just "Which Model" — "Cheapest Correct Model"</a:t>
            </a:r>
          </a:p>
          <a:p>
            <a:pPr>
              <a:spcBef>
                <a:spcPts val="1800"/>
              </a:spcBef>
            </a:pPr>
            <a:r>
              <a:rPr b="0" sz="1500">
                <a:solidFill>
                  <a:srgbClr val="94A3B8"/>
                </a:solidFill>
                <a:latin typeface="Consolas"/>
              </a:rPr>
              <a:t>Decision: </a:t>
            </a:r>
            <a:r>
              <a:rPr b="0" sz="1500">
                <a:solidFill>
                  <a:srgbClr val="8B5CF6"/>
                </a:solidFill>
                <a:latin typeface="Consolas"/>
              </a:rPr>
              <a:t>"This is a code task"</a:t>
            </a:r>
          </a:p>
          <a:p>
            <a:r>
              <a:rPr b="0" sz="1500">
                <a:solidFill>
                  <a:srgbClr val="94A3B8"/>
                </a:solidFill>
                <a:latin typeface="Consolas"/>
              </a:rPr>
              <a:t>  require: </a:t>
            </a:r>
            <a:r>
              <a:rPr b="0" sz="1500">
                <a:solidFill>
                  <a:srgbClr val="06B6D4"/>
                </a:solidFill>
                <a:latin typeface="Consolas"/>
              </a:rPr>
              <a:t>[code]</a:t>
            </a:r>
          </a:p>
          <a:p>
            <a:r>
              <a:rPr b="0" sz="1500">
                <a:solidFill>
                  <a:srgbClr val="94A3B8"/>
                </a:solidFill>
                <a:latin typeface="Consolas"/>
              </a:rPr>
              <a:t>  strategy: </a:t>
            </a:r>
            <a:r>
              <a:rPr b="0" sz="1500">
                <a:solidFill>
                  <a:srgbClr val="3B82F6"/>
                </a:solidFill>
                <a:latin typeface="Consolas"/>
              </a:rPr>
              <a:t>cheapest_capable</a:t>
            </a:r>
          </a:p>
          <a:p>
            <a:pPr>
              <a:spcBef>
                <a:spcPts val="1600"/>
              </a:spcBef>
            </a:pPr>
            <a:r>
              <a:rPr b="0" sz="1500">
                <a:solidFill>
                  <a:srgbClr val="94A3B8"/>
                </a:solidFill>
                <a:latin typeface="Consolas"/>
              </a:rPr>
              <a:t>Available models:</a:t>
            </a:r>
          </a:p>
          <a:p>
            <a:pPr>
              <a:spcBef>
                <a:spcPts val="600"/>
              </a:spcBef>
            </a:pPr>
            <a:r>
              <a:rPr b="0" sz="1500">
                <a:solidFill>
                  <a:srgbClr val="F97316"/>
                </a:solidFill>
                <a:latin typeface="Consolas"/>
              </a:rPr>
              <a:t>  • GPT-4o       </a:t>
            </a:r>
            <a:r>
              <a:rPr b="0" sz="1500">
                <a:solidFill>
                  <a:srgbClr val="22C55E"/>
                </a:solidFill>
                <a:latin typeface="Consolas"/>
              </a:rPr>
              <a:t>[code] ✓</a:t>
            </a:r>
            <a:r>
              <a:rPr b="0" sz="1500">
                <a:solidFill>
                  <a:srgbClr val="EF4444"/>
                </a:solidFill>
                <a:latin typeface="Consolas"/>
              </a:rPr>
              <a:t>  $10.00/1K</a:t>
            </a:r>
            <a:r>
              <a:rPr b="0" sz="1500">
                <a:solidFill>
                  <a:srgbClr val="94A3B8"/>
                </a:solidFill>
                <a:latin typeface="Consolas"/>
              </a:rPr>
              <a:t>   ← expensive</a:t>
            </a:r>
          </a:p>
          <a:p>
            <a:r>
              <a:rPr b="0" sz="1500">
                <a:solidFill>
                  <a:srgbClr val="F97316"/>
                </a:solidFill>
                <a:latin typeface="Consolas"/>
              </a:rPr>
              <a:t>  • Claude Sonnet </a:t>
            </a:r>
            <a:r>
              <a:rPr b="0" sz="1500">
                <a:solidFill>
                  <a:srgbClr val="22C55E"/>
                </a:solidFill>
                <a:latin typeface="Consolas"/>
              </a:rPr>
              <a:t>[code] ✓</a:t>
            </a:r>
            <a:r>
              <a:rPr b="0" sz="1500">
                <a:solidFill>
                  <a:srgbClr val="F97316"/>
                </a:solidFill>
                <a:latin typeface="Consolas"/>
              </a:rPr>
              <a:t>  $3.00/1K</a:t>
            </a:r>
          </a:p>
          <a:p>
            <a:r>
              <a:rPr b="0" sz="1500">
                <a:solidFill>
                  <a:srgbClr val="F97316"/>
                </a:solidFill>
                <a:latin typeface="Consolas"/>
              </a:rPr>
              <a:t>  • Gemini Flash  </a:t>
            </a:r>
            <a:r>
              <a:rPr b="0" sz="1500">
                <a:solidFill>
                  <a:srgbClr val="22C55E"/>
                </a:solidFill>
                <a:latin typeface="Consolas"/>
              </a:rPr>
              <a:t>[code] ✓</a:t>
            </a:r>
            <a:r>
              <a:rPr b="0" sz="1500">
                <a:solidFill>
                  <a:srgbClr val="22C55E"/>
                </a:solidFill>
                <a:latin typeface="Consolas"/>
              </a:rPr>
              <a:t>  $0.40/1K</a:t>
            </a:r>
            <a:r>
              <a:rPr b="0" sz="1500">
                <a:solidFill>
                  <a:srgbClr val="94A3B8"/>
                </a:solidFill>
                <a:latin typeface="Consolas"/>
              </a:rPr>
              <a:t>   ← </a:t>
            </a:r>
            <a:r>
              <a:rPr b="1" sz="1500">
                <a:solidFill>
                  <a:srgbClr val="22C55E"/>
                </a:solidFill>
                <a:latin typeface="Consolas"/>
              </a:rPr>
              <a:t>PICKED ✓</a:t>
            </a:r>
          </a:p>
          <a:p>
            <a:r>
              <a:rPr b="0" sz="1500">
                <a:solidFill>
                  <a:srgbClr val="F97316"/>
                </a:solidFill>
                <a:latin typeface="Consolas"/>
              </a:rPr>
              <a:t>  • Qwen-3B      </a:t>
            </a:r>
            <a:r>
              <a:rPr b="0" sz="1500">
                <a:solidFill>
                  <a:srgbClr val="94A3B8"/>
                </a:solidFill>
                <a:latin typeface="Consolas"/>
              </a:rPr>
              <a:t>[text] ✗</a:t>
            </a:r>
            <a:r>
              <a:rPr b="0" sz="1500">
                <a:solidFill>
                  <a:srgbClr val="94A3B8"/>
                </a:solidFill>
                <a:latin typeface="Consolas"/>
              </a:rPr>
              <a:t>              ← no code capability</a:t>
            </a:r>
          </a:p>
          <a:p>
            <a:pPr>
              <a:spcBef>
                <a:spcPts val="1600"/>
              </a:spcBef>
            </a:pPr>
            <a:r>
              <a:rPr b="0" sz="1500">
                <a:solidFill>
                  <a:srgbClr val="94A3B8"/>
                </a:solidFill>
                <a:latin typeface="Consolas"/>
              </a:rPr>
              <a:t>3 strategies: </a:t>
            </a:r>
            <a:r>
              <a:rPr b="0" sz="1500">
                <a:solidFill>
                  <a:srgbClr val="3B82F6"/>
                </a:solidFill>
                <a:latin typeface="Consolas"/>
              </a:rPr>
              <a:t>cheapest_capable</a:t>
            </a:r>
            <a:r>
              <a:rPr b="0" sz="1500">
                <a:solidFill>
                  <a:srgbClr val="94A3B8"/>
                </a:solidFill>
                <a:latin typeface="Consolas"/>
              </a:rPr>
              <a:t> | </a:t>
            </a:r>
            <a:r>
              <a:rPr b="0" sz="1500">
                <a:solidFill>
                  <a:srgbClr val="8B5CF6"/>
                </a:solidFill>
                <a:latin typeface="Consolas"/>
              </a:rPr>
              <a:t>quality_first</a:t>
            </a:r>
            <a:r>
              <a:rPr b="0" sz="1500">
                <a:solidFill>
                  <a:srgbClr val="94A3B8"/>
                </a:solidFill>
                <a:latin typeface="Consolas"/>
              </a:rPr>
              <a:t> | </a:t>
            </a:r>
            <a:r>
              <a:rPr b="0" sz="1500">
                <a:solidFill>
                  <a:srgbClr val="06B6D4"/>
                </a:solidFill>
                <a:latin typeface="Consolas"/>
              </a:rPr>
              <a:t>balanced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Calibri"/>
              </a:defRPr>
            </a:pPr>
            <a:r>
              <a:t>What's New (vs vLLM-SR)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554480"/>
            <a:ext cx="57908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3B82F6"/>
                </a:solidFill>
                <a:latin typeface="Calibri"/>
              </a:rPr>
              <a:t>vLLM Semantic Router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C55E"/>
                </a:solidFill>
                <a:latin typeface="Consolas"/>
              </a:rPr>
              <a:t>✓ 14 signals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C55E"/>
                </a:solidFill>
                <a:latin typeface="Consolas"/>
              </a:rPr>
              <a:t>✓ Embedding routing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C55E"/>
                </a:solidFill>
                <a:latin typeface="Consolas"/>
              </a:rPr>
              <a:t>✓ Jailbreak detection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C55E"/>
                </a:solidFill>
                <a:latin typeface="Consolas"/>
              </a:rPr>
              <a:t>✓ Semantic cache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22C55E"/>
                </a:solidFill>
                <a:latin typeface="Consolas"/>
              </a:rPr>
              <a:t>✓ 14 selection algorithms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EF4444"/>
                </a:solidFill>
                <a:latin typeface="Consolas"/>
              </a:rPr>
              <a:t>✗ Vision content analysis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EF4444"/>
                </a:solidFill>
                <a:latin typeface="Consolas"/>
              </a:rPr>
              <a:t>✗ Tool execution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EF4444"/>
                </a:solidFill>
                <a:latin typeface="Consolas"/>
              </a:rPr>
              <a:t>✗ Runtime decision path UI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EF4444"/>
                </a:solidFill>
                <a:latin typeface="Consolas"/>
              </a:rPr>
              <a:t>✗ Adaptive model health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EF4444"/>
                </a:solidFill>
                <a:latin typeface="Consolas"/>
              </a:rPr>
              <a:t>✗ Budget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1031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22C55E"/>
                </a:solidFill>
                <a:latin typeface="Calibri"/>
              </a:rPr>
              <a:t>Our Smart Router</a:t>
            </a:r>
          </a:p>
          <a:p>
            <a:pPr>
              <a:spcBef>
                <a:spcPts val="800"/>
              </a:spcBef>
            </a:pPr>
            <a:r>
              <a:rPr b="0" sz="1500">
                <a:solidFill>
                  <a:srgbClr val="22C55E"/>
                </a:solidFill>
                <a:latin typeface="Consolas"/>
              </a:rPr>
              <a:t>✓ 9 signals + </a:t>
            </a:r>
            <a:r>
              <a:rPr b="1" sz="1500">
                <a:solidFill>
                  <a:srgbClr val="06B6D4"/>
                </a:solidFill>
                <a:latin typeface="Consolas"/>
              </a:rPr>
              <a:t>3 NEW:</a:t>
            </a:r>
          </a:p>
          <a:p>
            <a:pPr>
              <a:spcBef>
                <a:spcPts val="200"/>
              </a:spcBef>
            </a:pPr>
            <a:r>
              <a:rPr b="0" sz="1500">
                <a:solidFill>
                  <a:srgbClr val="06B6D4"/>
                </a:solidFill>
                <a:latin typeface="Consolas"/>
              </a:rPr>
              <a:t>   Vision (CLIP image routing)</a:t>
            </a:r>
          </a:p>
          <a:p>
            <a:pPr>
              <a:spcBef>
                <a:spcPts val="200"/>
              </a:spcBef>
            </a:pPr>
            <a:r>
              <a:rPr b="0" sz="1500">
                <a:solidFill>
                  <a:srgbClr val="06B6D4"/>
                </a:solidFill>
                <a:latin typeface="Consolas"/>
              </a:rPr>
              <a:t>   Tool awareness</a:t>
            </a:r>
          </a:p>
          <a:p>
            <a:pPr>
              <a:spcBef>
                <a:spcPts val="200"/>
              </a:spcBef>
            </a:pPr>
            <a:r>
              <a:rPr b="0" sz="1500">
                <a:solidFill>
                  <a:srgbClr val="06B6D4"/>
                </a:solidFill>
                <a:latin typeface="Consolas"/>
              </a:rPr>
              <a:t>   Modality detection</a:t>
            </a:r>
          </a:p>
          <a:p>
            <a:pPr>
              <a:spcBef>
                <a:spcPts val="400"/>
              </a:spcBef>
            </a:pPr>
            <a:r>
              <a:rPr b="1" sz="1500">
                <a:solidFill>
                  <a:srgbClr val="22C55E"/>
                </a:solidFill>
                <a:latin typeface="Consolas"/>
              </a:rPr>
              <a:t>✓ NEW: </a:t>
            </a:r>
            <a:r>
              <a:rPr b="0" sz="1500">
                <a:solidFill>
                  <a:srgbClr val="22C55E"/>
                </a:solidFill>
                <a:latin typeface="Consolas"/>
              </a:rPr>
              <a:t>Budget-aware selection</a:t>
            </a:r>
          </a:p>
          <a:p>
            <a:pPr>
              <a:spcBef>
                <a:spcPts val="400"/>
              </a:spcBef>
            </a:pPr>
            <a:r>
              <a:rPr b="1" sz="1500">
                <a:solidFill>
                  <a:srgbClr val="22C55E"/>
                </a:solidFill>
                <a:latin typeface="Consolas"/>
              </a:rPr>
              <a:t>✓ NEW: </a:t>
            </a:r>
            <a:r>
              <a:rPr b="0" sz="1500">
                <a:solidFill>
                  <a:srgbClr val="22C55E"/>
                </a:solidFill>
                <a:latin typeface="Consolas"/>
              </a:rPr>
              <a:t>Adaptive routing (auto-disable)</a:t>
            </a:r>
          </a:p>
          <a:p>
            <a:pPr>
              <a:spcBef>
                <a:spcPts val="400"/>
              </a:spcBef>
            </a:pPr>
            <a:r>
              <a:rPr b="1" sz="1500">
                <a:solidFill>
                  <a:srgbClr val="22C55E"/>
                </a:solidFill>
                <a:latin typeface="Consolas"/>
              </a:rPr>
              <a:t>✓ NEW: </a:t>
            </a:r>
            <a:r>
              <a:rPr b="0" sz="1500">
                <a:solidFill>
                  <a:srgbClr val="22C55E"/>
                </a:solidFill>
                <a:latin typeface="Consolas"/>
              </a:rPr>
              <a:t>Dynamic model registry</a:t>
            </a:r>
          </a:p>
          <a:p>
            <a:pPr>
              <a:spcBef>
                <a:spcPts val="400"/>
              </a:spcBef>
            </a:pPr>
            <a:r>
              <a:rPr b="1" sz="1500">
                <a:solidFill>
                  <a:srgbClr val="22C55E"/>
                </a:solidFill>
                <a:latin typeface="Consolas"/>
              </a:rPr>
              <a:t>✓ NEW: </a:t>
            </a:r>
            <a:r>
              <a:rPr b="0" sz="1500">
                <a:solidFill>
                  <a:srgbClr val="22C55E"/>
                </a:solidFill>
                <a:latin typeface="Consolas"/>
              </a:rPr>
              <a:t>Session/user tracking</a:t>
            </a:r>
          </a:p>
          <a:p>
            <a:pPr>
              <a:spcBef>
                <a:spcPts val="400"/>
              </a:spcBef>
            </a:pPr>
            <a:r>
              <a:rPr b="1" sz="1500">
                <a:solidFill>
                  <a:srgbClr val="22C55E"/>
                </a:solidFill>
                <a:latin typeface="Consolas"/>
              </a:rPr>
              <a:t>✓ NEW: </a:t>
            </a:r>
            <a:r>
              <a:rPr b="0" sz="1500">
                <a:solidFill>
                  <a:srgbClr val="22C55E"/>
                </a:solidFill>
                <a:latin typeface="Consolas"/>
              </a:rPr>
              <a:t>Real-time trace dashboard</a:t>
            </a:r>
          </a:p>
          <a:p>
            <a:pPr>
              <a:spcBef>
                <a:spcPts val="400"/>
              </a:spcBef>
            </a:pPr>
            <a:r>
              <a:rPr b="1" sz="1500">
                <a:solidFill>
                  <a:srgbClr val="22C55E"/>
                </a:solidFill>
                <a:latin typeface="Consolas"/>
              </a:rPr>
              <a:t>✓ NEW: </a:t>
            </a:r>
            <a:r>
              <a:rPr b="0" sz="1500">
                <a:solidFill>
                  <a:srgbClr val="22C55E"/>
                </a:solidFill>
                <a:latin typeface="Consolas"/>
              </a:rPr>
              <a:t>Hot-reload config API</a:t>
            </a:r>
          </a:p>
          <a:p>
            <a:pPr>
              <a:spcBef>
                <a:spcPts val="400"/>
              </a:spcBef>
            </a:pPr>
            <a:r>
              <a:rPr b="1" sz="1500">
                <a:solidFill>
                  <a:srgbClr val="22C55E"/>
                </a:solidFill>
                <a:latin typeface="Consolas"/>
              </a:rPr>
              <a:t>✓ NEW: </a:t>
            </a:r>
            <a:r>
              <a:rPr b="0" sz="1500">
                <a:solidFill>
                  <a:srgbClr val="22C55E"/>
                </a:solidFill>
                <a:latin typeface="Consolas"/>
              </a:rPr>
              <a:t>Simulate degradation (demo)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Calibri"/>
              </a:defRPr>
            </a:pPr>
            <a:r>
              <a:t>Benchmark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554480"/>
            <a:ext cx="57908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971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FFFFFF"/>
                </a:solidFill>
                <a:latin typeface="Calibri"/>
              </a:rPr>
              <a:t>RouterArena (8,400 text queries)</a:t>
            </a:r>
          </a:p>
          <a:p>
            <a:pPr>
              <a:spcBef>
                <a:spcPts val="1200"/>
              </a:spcBef>
            </a:pPr>
            <a:r>
              <a:rPr b="0" sz="1400">
                <a:solidFill>
                  <a:srgbClr val="94A3B8"/>
                </a:solidFill>
                <a:latin typeface="Consolas"/>
              </a:rPr>
              <a:t>                  Accuracy    Latency    Cost/1K</a:t>
            </a:r>
          </a:p>
          <a:p>
            <a:pPr>
              <a:spcBef>
                <a:spcPts val="400"/>
              </a:spcBef>
            </a:pPr>
            <a:r>
              <a:rPr b="1" sz="1400">
                <a:solidFill>
                  <a:srgbClr val="22C55E"/>
                </a:solidFill>
                <a:latin typeface="Consolas"/>
              </a:rPr>
              <a:t>  Our Router      </a:t>
            </a:r>
            <a:r>
              <a:rPr b="1" sz="1400">
                <a:solidFill>
                  <a:srgbClr val="22C55E"/>
                </a:solidFill>
                <a:latin typeface="Consolas"/>
              </a:rPr>
              <a:t>98.1%</a:t>
            </a:r>
            <a:r>
              <a:rPr b="0" sz="1400">
                <a:solidFill>
                  <a:srgbClr val="94A3B8"/>
                </a:solidFill>
                <a:latin typeface="Consolas"/>
              </a:rPr>
              <a:t>       </a:t>
            </a:r>
            <a:r>
              <a:rPr b="1" sz="1400">
                <a:solidFill>
                  <a:srgbClr val="22C55E"/>
                </a:solidFill>
                <a:latin typeface="Consolas"/>
              </a:rPr>
              <a:t>10.6ms</a:t>
            </a:r>
            <a:r>
              <a:rPr b="0" sz="1400">
                <a:solidFill>
                  <a:srgbClr val="94A3B8"/>
                </a:solidFill>
                <a:latin typeface="Consolas"/>
              </a:rPr>
              <a:t>     </a:t>
            </a:r>
            <a:r>
              <a:rPr b="0" sz="1400">
                <a:solidFill>
                  <a:srgbClr val="F97316"/>
                </a:solidFill>
                <a:latin typeface="Consolas"/>
              </a:rPr>
              <a:t>$233</a:t>
            </a:r>
          </a:p>
          <a:p>
            <a:pPr>
              <a:spcBef>
                <a:spcPts val="200"/>
              </a:spcBef>
            </a:pPr>
            <a:r>
              <a:rPr b="0" sz="1400">
                <a:solidFill>
                  <a:srgbClr val="94A3B8"/>
                </a:solidFill>
                <a:latin typeface="Consolas"/>
              </a:rPr>
              <a:t>  vLLM-SR         </a:t>
            </a:r>
            <a:r>
              <a:rPr b="0" sz="1400">
                <a:solidFill>
                  <a:srgbClr val="EF4444"/>
                </a:solidFill>
                <a:latin typeface="Consolas"/>
              </a:rPr>
              <a:t>66.5%</a:t>
            </a:r>
            <a:r>
              <a:rPr b="0" sz="1400">
                <a:solidFill>
                  <a:srgbClr val="94A3B8"/>
                </a:solidFill>
                <a:latin typeface="Consolas"/>
              </a:rPr>
              <a:t>       </a:t>
            </a:r>
            <a:r>
              <a:rPr b="0" sz="1400">
                <a:solidFill>
                  <a:srgbClr val="EF4444"/>
                </a:solidFill>
                <a:latin typeface="Consolas"/>
              </a:rPr>
              <a:t>243ms</a:t>
            </a:r>
            <a:r>
              <a:rPr b="0" sz="1400">
                <a:solidFill>
                  <a:srgbClr val="94A3B8"/>
                </a:solidFill>
                <a:latin typeface="Consolas"/>
              </a:rPr>
              <a:t>      </a:t>
            </a:r>
            <a:r>
              <a:rPr b="0" sz="1400">
                <a:solidFill>
                  <a:srgbClr val="22C55E"/>
                </a:solidFill>
                <a:latin typeface="Consolas"/>
              </a:rPr>
              <a:t>$0.06</a:t>
            </a:r>
          </a:p>
          <a:p>
            <a:pPr>
              <a:spcBef>
                <a:spcPts val="200"/>
              </a:spcBef>
            </a:pPr>
            <a:r>
              <a:rPr b="0" sz="1400">
                <a:solidFill>
                  <a:srgbClr val="94A3B8"/>
                </a:solidFill>
                <a:latin typeface="Consolas"/>
              </a:rPr>
              <a:t>  Always GPT-4o   </a:t>
            </a:r>
            <a:r>
              <a:rPr b="0" sz="1400">
                <a:solidFill>
                  <a:srgbClr val="94A3B8"/>
                </a:solidFill>
                <a:latin typeface="Consolas"/>
              </a:rPr>
              <a:t>—</a:t>
            </a:r>
            <a:r>
              <a:rPr b="0" sz="1400">
                <a:solidFill>
                  <a:srgbClr val="94A3B8"/>
                </a:solidFill>
                <a:latin typeface="Consolas"/>
              </a:rPr>
              <a:t>             </a:t>
            </a:r>
            <a:r>
              <a:rPr b="0" sz="1400">
                <a:solidFill>
                  <a:srgbClr val="94A3B8"/>
                </a:solidFill>
                <a:latin typeface="Consolas"/>
              </a:rPr>
              <a:t>—</a:t>
            </a:r>
            <a:r>
              <a:rPr b="0" sz="1400">
                <a:solidFill>
                  <a:srgbClr val="94A3B8"/>
                </a:solidFill>
                <a:latin typeface="Consolas"/>
              </a:rPr>
              <a:t>          </a:t>
            </a:r>
            <a:r>
              <a:rPr b="0" sz="1400">
                <a:solidFill>
                  <a:srgbClr val="EF4444"/>
                </a:solidFill>
                <a:latin typeface="Consolas"/>
              </a:rPr>
              <a:t>$12.00</a:t>
            </a:r>
          </a:p>
          <a:p>
            <a:pPr>
              <a:spcBef>
                <a:spcPts val="2400"/>
              </a:spcBef>
            </a:pPr>
            <a:r>
              <a:rPr b="1" sz="1800">
                <a:solidFill>
                  <a:srgbClr val="FFFFFF"/>
                </a:solidFill>
                <a:latin typeface="Calibri"/>
              </a:rPr>
              <a:t>VL-RouterBench (30K vision queries)</a:t>
            </a:r>
          </a:p>
          <a:p>
            <a:pPr>
              <a:spcBef>
                <a:spcPts val="1200"/>
              </a:spcBef>
            </a:pPr>
            <a:r>
              <a:rPr b="0" sz="1400">
                <a:solidFill>
                  <a:srgbClr val="94A3B8"/>
                </a:solidFill>
                <a:latin typeface="Consolas"/>
              </a:rPr>
              <a:t>                  Accuracy    Rank Score</a:t>
            </a:r>
          </a:p>
          <a:p>
            <a:pPr>
              <a:spcBef>
                <a:spcPts val="400"/>
              </a:spcBef>
            </a:pPr>
            <a:r>
              <a:rPr b="1" sz="1400">
                <a:solidFill>
                  <a:srgbClr val="22C55E"/>
                </a:solidFill>
                <a:latin typeface="Consolas"/>
              </a:rPr>
              <a:t>  Our Router      </a:t>
            </a:r>
            <a:r>
              <a:rPr b="1" sz="1400">
                <a:solidFill>
                  <a:srgbClr val="22C55E"/>
                </a:solidFill>
                <a:latin typeface="Consolas"/>
              </a:rPr>
              <a:t>83.8%</a:t>
            </a:r>
            <a:r>
              <a:rPr b="0" sz="1400">
                <a:solidFill>
                  <a:srgbClr val="94A3B8"/>
                </a:solidFill>
                <a:latin typeface="Consolas"/>
              </a:rPr>
              <a:t>       </a:t>
            </a:r>
            <a:r>
              <a:rPr b="1" sz="1400">
                <a:solidFill>
                  <a:srgbClr val="22C55E"/>
                </a:solidFill>
                <a:latin typeface="Consolas"/>
              </a:rPr>
              <a:t>0.80</a:t>
            </a:r>
          </a:p>
          <a:p>
            <a:pPr>
              <a:spcBef>
                <a:spcPts val="200"/>
              </a:spcBef>
            </a:pPr>
            <a:r>
              <a:rPr b="0" sz="1400">
                <a:solidFill>
                  <a:srgbClr val="94A3B8"/>
                </a:solidFill>
                <a:latin typeface="Consolas"/>
              </a:rPr>
              <a:t>  Always GPT-4o   84.4%       </a:t>
            </a:r>
            <a:r>
              <a:rPr b="0" sz="1400">
                <a:solidFill>
                  <a:srgbClr val="EF4444"/>
                </a:solidFill>
                <a:latin typeface="Consolas"/>
              </a:rPr>
              <a:t>0.48</a:t>
            </a:r>
            <a:r>
              <a:rPr b="0" sz="1400">
                <a:solidFill>
                  <a:srgbClr val="94A3B8"/>
                </a:solidFill>
                <a:latin typeface="Consolas"/>
              </a:rPr>
              <a:t> (expensive)</a:t>
            </a:r>
          </a:p>
          <a:p>
            <a:pPr>
              <a:spcBef>
                <a:spcPts val="200"/>
              </a:spcBef>
            </a:pPr>
            <a:r>
              <a:rPr b="0" sz="1400">
                <a:solidFill>
                  <a:srgbClr val="94A3B8"/>
                </a:solidFill>
                <a:latin typeface="Consolas"/>
              </a:rPr>
              <a:t>  Random          </a:t>
            </a:r>
            <a:r>
              <a:rPr b="0" sz="1400">
                <a:solidFill>
                  <a:srgbClr val="EF4444"/>
                </a:solidFill>
                <a:latin typeface="Consolas"/>
              </a:rPr>
              <a:t>58.6%</a:t>
            </a:r>
            <a:r>
              <a:rPr b="0" sz="1400">
                <a:solidFill>
                  <a:srgbClr val="94A3B8"/>
                </a:solidFill>
                <a:latin typeface="Consolas"/>
              </a:rPr>
              <a:t>       0.55</a:t>
            </a:r>
          </a:p>
          <a:p>
            <a:pPr>
              <a:spcBef>
                <a:spcPts val="1600"/>
              </a:spcBef>
            </a:pPr>
            <a:r>
              <a:rPr b="0" sz="1200">
                <a:solidFill>
                  <a:srgbClr val="94A3B8"/>
                </a:solidFill>
                <a:latin typeface="Consolas"/>
              </a:rPr>
              <a:t>Custom embeddings trained on LMSYS 55K (pushed to HuggingFace)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554480"/>
            <a:ext cx="57908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971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3B82F6"/>
                </a:solidFill>
                <a:latin typeface="Consolas"/>
              </a:rPr>
              <a:t>http://localhost:8000/dashboard</a:t>
            </a:r>
          </a:p>
          <a:p>
            <a:pPr>
              <a:spcBef>
                <a:spcPts val="2000"/>
              </a:spcBef>
            </a:pPr>
            <a:r>
              <a:rPr b="1" sz="2000">
                <a:solidFill>
                  <a:srgbClr val="FFFFFF"/>
                </a:solidFill>
                <a:latin typeface="Calibri"/>
              </a:rPr>
              <a:t>Demo Flow:</a:t>
            </a:r>
          </a:p>
          <a:p>
            <a:pPr>
              <a:spcBef>
                <a:spcPts val="600"/>
              </a:spcBef>
            </a:pPr>
            <a:r>
              <a:rPr b="1" sz="1500">
                <a:solidFill>
                  <a:srgbClr val="06B6D4"/>
                </a:solidFill>
                <a:latin typeface="Consolas"/>
              </a:rPr>
              <a:t>1.</a:t>
            </a:r>
            <a:r>
              <a:rPr b="0" sz="1500">
                <a:solidFill>
                  <a:srgbClr val="94A3B8"/>
                </a:solidFill>
                <a:latin typeface="Consolas"/>
              </a:rPr>
              <a:t> Send simple query     → routes to cheap model </a:t>
            </a:r>
            <a:r>
              <a:rPr b="1" sz="1500">
                <a:solidFill>
                  <a:srgbClr val="22C55E"/>
                </a:solidFill>
                <a:latin typeface="Consolas"/>
              </a:rPr>
              <a:t>qwen-3b</a:t>
            </a:r>
          </a:p>
          <a:p>
            <a:pPr>
              <a:spcBef>
                <a:spcPts val="600"/>
              </a:spcBef>
            </a:pPr>
            <a:r>
              <a:rPr b="1" sz="1500">
                <a:solidFill>
                  <a:srgbClr val="06B6D4"/>
                </a:solidFill>
                <a:latin typeface="Consolas"/>
              </a:rPr>
              <a:t>2.</a:t>
            </a:r>
            <a:r>
              <a:rPr b="0" sz="1500">
                <a:solidFill>
                  <a:srgbClr val="94A3B8"/>
                </a:solidFill>
                <a:latin typeface="Consolas"/>
              </a:rPr>
              <a:t> Send math proof       → routes to reasoning model </a:t>
            </a:r>
            <a:r>
              <a:rPr b="1" sz="1500">
                <a:solidFill>
                  <a:srgbClr val="8B5CF6"/>
                </a:solidFill>
                <a:latin typeface="Consolas"/>
              </a:rPr>
              <a:t>claude</a:t>
            </a:r>
          </a:p>
          <a:p>
            <a:pPr>
              <a:spcBef>
                <a:spcPts val="600"/>
              </a:spcBef>
            </a:pPr>
            <a:r>
              <a:rPr b="1" sz="1500">
                <a:solidFill>
                  <a:srgbClr val="06B6D4"/>
                </a:solidFill>
                <a:latin typeface="Consolas"/>
              </a:rPr>
              <a:t>3.</a:t>
            </a:r>
            <a:r>
              <a:rPr b="0" sz="1500">
                <a:solidFill>
                  <a:srgbClr val="94A3B8"/>
                </a:solidFill>
                <a:latin typeface="Consolas"/>
              </a:rPr>
              <a:t> Send code query       → routes to code model </a:t>
            </a:r>
            <a:r>
              <a:rPr b="1" sz="1500">
                <a:solidFill>
                  <a:srgbClr val="3B82F6"/>
                </a:solidFill>
                <a:latin typeface="Consolas"/>
              </a:rPr>
              <a:t>gemini-flash</a:t>
            </a:r>
          </a:p>
          <a:p>
            <a:pPr>
              <a:spcBef>
                <a:spcPts val="600"/>
              </a:spcBef>
            </a:pPr>
            <a:r>
              <a:rPr b="1" sz="1500">
                <a:solidFill>
                  <a:srgbClr val="06B6D4"/>
                </a:solidFill>
                <a:latin typeface="Consolas"/>
              </a:rPr>
              <a:t>4.</a:t>
            </a:r>
            <a:r>
              <a:rPr b="0" sz="1500">
                <a:solidFill>
                  <a:srgbClr val="94A3B8"/>
                </a:solidFill>
                <a:latin typeface="Consolas"/>
              </a:rPr>
              <a:t> Send jailbreak        → </a:t>
            </a:r>
            <a:r>
              <a:rPr b="1" sz="1500">
                <a:solidFill>
                  <a:srgbClr val="EF4444"/>
                </a:solidFill>
                <a:latin typeface="Consolas"/>
              </a:rPr>
              <a:t>BLOCKED by guardrails</a:t>
            </a:r>
          </a:p>
          <a:p>
            <a:pPr>
              <a:spcBef>
                <a:spcPts val="600"/>
              </a:spcBef>
            </a:pPr>
            <a:r>
              <a:rPr b="1" sz="1500">
                <a:solidFill>
                  <a:srgbClr val="06B6D4"/>
                </a:solidFill>
                <a:latin typeface="Consolas"/>
              </a:rPr>
              <a:t>5.</a:t>
            </a:r>
            <a:r>
              <a:rPr b="0" sz="1500">
                <a:solidFill>
                  <a:srgbClr val="94A3B8"/>
                </a:solidFill>
                <a:latin typeface="Consolas"/>
              </a:rPr>
              <a:t> Simulate degradation  → watch </a:t>
            </a:r>
            <a:r>
              <a:rPr b="1" sz="1500">
                <a:solidFill>
                  <a:srgbClr val="F97316"/>
                </a:solidFill>
                <a:latin typeface="Consolas"/>
              </a:rPr>
              <a:t>auto-disable</a:t>
            </a:r>
          </a:p>
          <a:p>
            <a:pPr>
              <a:spcBef>
                <a:spcPts val="600"/>
              </a:spcBef>
            </a:pPr>
            <a:r>
              <a:rPr b="1" sz="1500">
                <a:solidFill>
                  <a:srgbClr val="06B6D4"/>
                </a:solidFill>
                <a:latin typeface="Consolas"/>
              </a:rPr>
              <a:t>6.</a:t>
            </a:r>
            <a:r>
              <a:rPr b="0" sz="1500">
                <a:solidFill>
                  <a:srgbClr val="94A3B8"/>
                </a:solidFill>
                <a:latin typeface="Consolas"/>
              </a:rPr>
              <a:t> Add new model via API → immediately available</a:t>
            </a:r>
          </a:p>
          <a:p>
            <a:pPr>
              <a:spcBef>
                <a:spcPts val="600"/>
              </a:spcBef>
            </a:pPr>
            <a:r>
              <a:rPr b="1" sz="1500">
                <a:solidFill>
                  <a:srgbClr val="06B6D4"/>
                </a:solidFill>
                <a:latin typeface="Consolas"/>
              </a:rPr>
              <a:t>7.</a:t>
            </a:r>
            <a:r>
              <a:rPr b="0" sz="1500">
                <a:solidFill>
                  <a:srgbClr val="94A3B8"/>
                </a:solidFill>
                <a:latin typeface="Consolas"/>
              </a:rPr>
              <a:t> Show session trace    → full pipeline visualization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Calibri"/>
              </a:defRPr>
            </a:pPr>
            <a:r>
              <a:t>Technical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554480"/>
            <a:ext cx="57908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971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b="1" sz="1600">
                <a:solidFill>
                  <a:srgbClr val="FFFFFF"/>
                </a:solidFill>
                <a:latin typeface="Calibri"/>
              </a:rPr>
              <a:t>Python over Go/Rust</a:t>
            </a:r>
          </a:p>
          <a:p>
            <a:pPr>
              <a:spcBef>
                <a:spcPts val="200"/>
              </a:spcBef>
            </a:pPr>
            <a:r>
              <a:rPr b="0" sz="1400">
                <a:solidFill>
                  <a:srgbClr val="94A3B8"/>
                </a:solidFill>
                <a:latin typeface="Consolas"/>
              </a:rPr>
              <a:t>→ </a:t>
            </a:r>
            <a:r>
              <a:rPr b="1" sz="1400">
                <a:solidFill>
                  <a:srgbClr val="22C55E"/>
                </a:solidFill>
                <a:latin typeface="Consolas"/>
              </a:rPr>
              <a:t>3,300 lines</a:t>
            </a:r>
            <a:r>
              <a:rPr b="0" sz="1400">
                <a:solidFill>
                  <a:srgbClr val="94A3B8"/>
                </a:solidFill>
                <a:latin typeface="Consolas"/>
              </a:rPr>
              <a:t> vs </a:t>
            </a:r>
            <a:r>
              <a:rPr b="1" sz="1400">
                <a:solidFill>
                  <a:srgbClr val="EF4444"/>
                </a:solidFill>
                <a:latin typeface="Consolas"/>
              </a:rPr>
              <a:t>654K lines</a:t>
            </a:r>
            <a:r>
              <a:rPr b="0" sz="1400">
                <a:solidFill>
                  <a:srgbClr val="94A3B8"/>
                </a:solidFill>
                <a:latin typeface="Consolas"/>
              </a:rPr>
              <a:t> (vLLM-SR)</a:t>
            </a:r>
          </a:p>
          <a:p>
            <a:pPr>
              <a:spcBef>
                <a:spcPts val="200"/>
              </a:spcBef>
            </a:pPr>
            <a:r>
              <a:rPr b="0" sz="1400">
                <a:solidFill>
                  <a:srgbClr val="94A3B8"/>
                </a:solidFill>
                <a:latin typeface="Consolas"/>
              </a:rPr>
              <a:t>→ Same accuracy, faster to iterate</a:t>
            </a:r>
          </a:p>
          <a:p>
            <a:pPr>
              <a:spcBef>
                <a:spcPts val="200"/>
              </a:spcBef>
            </a:pPr>
            <a:r>
              <a:rPr b="0" sz="1400">
                <a:solidFill>
                  <a:srgbClr val="94A3B8"/>
                </a:solidFill>
                <a:latin typeface="Consolas"/>
              </a:rPr>
              <a:t>→ 10ms latency (good enough for routing)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FFFFFF"/>
                </a:solidFill>
                <a:latin typeface="Calibri"/>
              </a:rPr>
              <a:t>MiniLM-L6 over mmBERT-32K</a:t>
            </a:r>
          </a:p>
          <a:p>
            <a:pPr>
              <a:spcBef>
                <a:spcPts val="200"/>
              </a:spcBef>
            </a:pPr>
            <a:r>
              <a:rPr b="0" sz="1400">
                <a:solidFill>
                  <a:srgbClr val="94A3B8"/>
                </a:solidFill>
                <a:latin typeface="Consolas"/>
              </a:rPr>
              <a:t>→ </a:t>
            </a:r>
            <a:r>
              <a:rPr b="1" sz="1400">
                <a:solidFill>
                  <a:srgbClr val="22C55E"/>
                </a:solidFill>
                <a:latin typeface="Consolas"/>
              </a:rPr>
              <a:t>22M</a:t>
            </a:r>
            <a:r>
              <a:rPr b="0" sz="1400">
                <a:solidFill>
                  <a:srgbClr val="94A3B8"/>
                </a:solidFill>
                <a:latin typeface="Consolas"/>
              </a:rPr>
              <a:t> vs </a:t>
            </a:r>
            <a:r>
              <a:rPr b="1" sz="1400">
                <a:solidFill>
                  <a:srgbClr val="EF4444"/>
                </a:solidFill>
                <a:latin typeface="Consolas"/>
              </a:rPr>
              <a:t>350M</a:t>
            </a:r>
            <a:r>
              <a:rPr b="0" sz="1400">
                <a:solidFill>
                  <a:srgbClr val="94A3B8"/>
                </a:solidFill>
                <a:latin typeface="Consolas"/>
              </a:rPr>
              <a:t> params</a:t>
            </a:r>
          </a:p>
          <a:p>
            <a:pPr>
              <a:spcBef>
                <a:spcPts val="200"/>
              </a:spcBef>
            </a:pPr>
            <a:r>
              <a:rPr b="0" sz="1400">
                <a:solidFill>
                  <a:srgbClr val="94A3B8"/>
                </a:solidFill>
                <a:latin typeface="Consolas"/>
              </a:rPr>
              <a:t>→ </a:t>
            </a:r>
            <a:r>
              <a:rPr b="1" sz="1400">
                <a:solidFill>
                  <a:srgbClr val="22C55E"/>
                </a:solidFill>
                <a:latin typeface="Consolas"/>
              </a:rPr>
              <a:t>10ms</a:t>
            </a:r>
            <a:r>
              <a:rPr b="0" sz="1400">
                <a:solidFill>
                  <a:srgbClr val="94A3B8"/>
                </a:solidFill>
                <a:latin typeface="Consolas"/>
              </a:rPr>
              <a:t> vs </a:t>
            </a:r>
            <a:r>
              <a:rPr b="1" sz="1400">
                <a:solidFill>
                  <a:srgbClr val="EF4444"/>
                </a:solidFill>
                <a:latin typeface="Consolas"/>
              </a:rPr>
              <a:t>243ms</a:t>
            </a:r>
            <a:r>
              <a:rPr b="0" sz="1400">
                <a:solidFill>
                  <a:srgbClr val="94A3B8"/>
                </a:solidFill>
                <a:latin typeface="Consolas"/>
              </a:rPr>
              <a:t> per query</a:t>
            </a:r>
          </a:p>
          <a:p>
            <a:pPr>
              <a:spcBef>
                <a:spcPts val="200"/>
              </a:spcBef>
            </a:pPr>
            <a:r>
              <a:rPr b="0" sz="1400">
                <a:solidFill>
                  <a:srgbClr val="94A3B8"/>
                </a:solidFill>
                <a:latin typeface="Consolas"/>
              </a:rPr>
              <a:t>→ </a:t>
            </a:r>
            <a:r>
              <a:rPr b="1" sz="1400">
                <a:solidFill>
                  <a:srgbClr val="22C55E"/>
                </a:solidFill>
                <a:latin typeface="Consolas"/>
              </a:rPr>
              <a:t>98%</a:t>
            </a:r>
            <a:r>
              <a:rPr b="0" sz="1400">
                <a:solidFill>
                  <a:srgbClr val="94A3B8"/>
                </a:solidFill>
                <a:latin typeface="Consolas"/>
              </a:rPr>
              <a:t> vs </a:t>
            </a:r>
            <a:r>
              <a:rPr b="1" sz="1400">
                <a:solidFill>
                  <a:srgbClr val="EF4444"/>
                </a:solidFill>
                <a:latin typeface="Consolas"/>
              </a:rPr>
              <a:t>66%</a:t>
            </a:r>
            <a:r>
              <a:rPr b="0" sz="1400">
                <a:solidFill>
                  <a:srgbClr val="94A3B8"/>
                </a:solidFill>
                <a:latin typeface="Consolas"/>
              </a:rPr>
              <a:t> accuracy (better with good exemplars)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FFFFFF"/>
                </a:solidFill>
                <a:latin typeface="Calibri"/>
              </a:rPr>
              <a:t>No model names in training</a:t>
            </a:r>
          </a:p>
          <a:p>
            <a:pPr>
              <a:spcBef>
                <a:spcPts val="200"/>
              </a:spcBef>
            </a:pPr>
            <a:r>
              <a:rPr b="0" sz="1400">
                <a:solidFill>
                  <a:srgbClr val="94A3B8"/>
                </a:solidFill>
                <a:latin typeface="Consolas"/>
              </a:rPr>
              <a:t>→ Trained on </a:t>
            </a:r>
            <a:r>
              <a:rPr b="1" sz="1400">
                <a:solidFill>
                  <a:srgbClr val="8B5CF6"/>
                </a:solidFill>
                <a:latin typeface="Consolas"/>
              </a:rPr>
              <a:t>task profiles</a:t>
            </a:r>
            <a:r>
              <a:rPr b="0" sz="1400">
                <a:solidFill>
                  <a:srgbClr val="94A3B8"/>
                </a:solidFill>
                <a:latin typeface="Consolas"/>
              </a:rPr>
              <a:t>, not "pick GPT-4"</a:t>
            </a:r>
          </a:p>
          <a:p>
            <a:pPr>
              <a:spcBef>
                <a:spcPts val="200"/>
              </a:spcBef>
            </a:pPr>
            <a:r>
              <a:rPr b="0" sz="1400">
                <a:solidFill>
                  <a:srgbClr val="94A3B8"/>
                </a:solidFill>
                <a:latin typeface="Consolas"/>
              </a:rPr>
              <a:t>→ Add new model tomorrow → works without retraining</a:t>
            </a:r>
          </a:p>
          <a:p>
            <a:pPr>
              <a:spcBef>
                <a:spcPts val="200"/>
              </a:spcBef>
            </a:pPr>
            <a:r>
              <a:rPr b="0" sz="1400">
                <a:solidFill>
                  <a:srgbClr val="94A3B8"/>
                </a:solidFill>
                <a:latin typeface="Consolas"/>
              </a:rPr>
              <a:t>→ Budget layer maps profiles → cheapest capable model</a:t>
            </a:r>
          </a:p>
          <a:p>
            <a:pPr>
              <a:spcBef>
                <a:spcPts val="1400"/>
              </a:spcBef>
            </a:pPr>
            <a:r>
              <a:rPr b="1" sz="1600">
                <a:solidFill>
                  <a:srgbClr val="FFFFFF"/>
                </a:solidFill>
                <a:latin typeface="Calibri"/>
              </a:rPr>
              <a:t>Embedding match over classifier</a:t>
            </a:r>
          </a:p>
          <a:p>
            <a:pPr>
              <a:spcBef>
                <a:spcPts val="200"/>
              </a:spcBef>
            </a:pPr>
            <a:r>
              <a:rPr b="0" sz="1400">
                <a:solidFill>
                  <a:srgbClr val="94A3B8"/>
                </a:solidFill>
                <a:latin typeface="Consolas"/>
              </a:rPr>
              <a:t>→ Zero training needed — add exemplars in YAML</a:t>
            </a:r>
          </a:p>
          <a:p>
            <a:pPr>
              <a:spcBef>
                <a:spcPts val="200"/>
              </a:spcBef>
            </a:pPr>
            <a:r>
              <a:rPr b="0" sz="1400">
                <a:solidFill>
                  <a:srgbClr val="94A3B8"/>
                </a:solidFill>
                <a:latin typeface="Consolas"/>
              </a:rPr>
              <a:t>→ </a:t>
            </a:r>
            <a:r>
              <a:rPr b="1" sz="1400">
                <a:solidFill>
                  <a:srgbClr val="22C55E"/>
                </a:solidFill>
                <a:latin typeface="Consolas"/>
              </a:rPr>
              <a:t>98.1% accuracy</a:t>
            </a:r>
            <a:r>
              <a:rPr b="0" sz="1400">
                <a:solidFill>
                  <a:srgbClr val="94A3B8"/>
                </a:solidFill>
                <a:latin typeface="Consolas"/>
              </a:rPr>
              <a:t> without any training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Calibri"/>
              </a:defRPr>
            </a:pPr>
            <a:r>
              <a:t>What We Got Wrong &amp;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554480"/>
            <a:ext cx="57908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971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b="1" sz="1500">
                <a:solidFill>
                  <a:srgbClr val="EF4444"/>
                </a:solidFill>
                <a:latin typeface="Consolas"/>
              </a:rPr>
              <a:t>✗ </a:t>
            </a:r>
            <a:r>
              <a:rPr b="1" sz="1600">
                <a:solidFill>
                  <a:srgbClr val="FFFFFF"/>
                </a:solidFill>
                <a:latin typeface="Calibri"/>
              </a:rPr>
              <a:t>RouterArena 98.1% is inflated</a:t>
            </a:r>
          </a:p>
          <a:p>
            <a:pPr>
              <a:spcBef>
                <a:spcPts val="200"/>
              </a:spcBef>
            </a:pPr>
            <a:r>
              <a:rPr b="0" sz="1500">
                <a:solidFill>
                  <a:srgbClr val="94A3B8"/>
                </a:solidFill>
                <a:latin typeface="Consolas"/>
              </a:rPr>
              <a:t>  → gpt-4o-mini has ground truth for all queries</a:t>
            </a:r>
          </a:p>
          <a:p>
            <a:pPr>
              <a:spcBef>
                <a:spcPts val="200"/>
              </a:spcBef>
            </a:pPr>
            <a:r>
              <a:rPr b="0" sz="1500">
                <a:solidFill>
                  <a:srgbClr val="94A3B8"/>
                </a:solidFill>
                <a:latin typeface="Consolas"/>
              </a:rPr>
              <a:t>  → Routing away from it = "wrong" by default</a:t>
            </a:r>
          </a:p>
          <a:p>
            <a:pPr>
              <a:spcBef>
                <a:spcPts val="200"/>
              </a:spcBef>
            </a:pPr>
            <a:r>
              <a:rPr b="0" sz="1500">
                <a:solidFill>
                  <a:srgbClr val="94A3B8"/>
                </a:solidFill>
                <a:latin typeface="Consolas"/>
              </a:rPr>
              <a:t>  → Real accuracy on 3-model overlap: </a:t>
            </a:r>
            <a:r>
              <a:rPr b="1" sz="1500">
                <a:solidFill>
                  <a:srgbClr val="F97316"/>
                </a:solidFill>
                <a:latin typeface="Consolas"/>
              </a:rPr>
              <a:t>80.9%</a:t>
            </a:r>
          </a:p>
          <a:p>
            <a:pPr>
              <a:spcBef>
                <a:spcPts val="1400"/>
              </a:spcBef>
            </a:pPr>
            <a:r>
              <a:rPr b="1" sz="1500">
                <a:solidFill>
                  <a:srgbClr val="EF4444"/>
                </a:solidFill>
                <a:latin typeface="Consolas"/>
              </a:rPr>
              <a:t>✗ </a:t>
            </a:r>
            <a:r>
              <a:rPr b="1" sz="1600">
                <a:solidFill>
                  <a:srgbClr val="FFFFFF"/>
                </a:solidFill>
                <a:latin typeface="Calibri"/>
              </a:rPr>
              <a:t>Removing thresholds dropped accuracy to 51%</a:t>
            </a:r>
          </a:p>
          <a:p>
            <a:pPr>
              <a:spcBef>
                <a:spcPts val="200"/>
              </a:spcBef>
            </a:pPr>
            <a:r>
              <a:rPr b="0" sz="1500">
                <a:solidFill>
                  <a:srgbClr val="94A3B8"/>
                </a:solidFill>
                <a:latin typeface="Consolas"/>
              </a:rPr>
              <a:t>  → "What is 2+2" → complex_reasoning (oops)</a:t>
            </a:r>
          </a:p>
          <a:p>
            <a:pPr>
              <a:spcBef>
                <a:spcPts val="200"/>
              </a:spcBef>
            </a:pPr>
            <a:r>
              <a:rPr b="0" sz="1500">
                <a:solidFill>
                  <a:srgbClr val="94A3B8"/>
                </a:solidFill>
                <a:latin typeface="Consolas"/>
              </a:rPr>
              <a:t>  → Need soft thresholds, not hard rules</a:t>
            </a:r>
          </a:p>
          <a:p>
            <a:pPr>
              <a:spcBef>
                <a:spcPts val="1400"/>
              </a:spcBef>
            </a:pPr>
            <a:r>
              <a:rPr b="1" sz="1500">
                <a:solidFill>
                  <a:srgbClr val="EF4444"/>
                </a:solidFill>
                <a:latin typeface="Consolas"/>
              </a:rPr>
              <a:t>✗ </a:t>
            </a:r>
            <a:r>
              <a:rPr b="1" sz="1600">
                <a:solidFill>
                  <a:srgbClr val="FFFFFF"/>
                </a:solidFill>
                <a:latin typeface="Calibri"/>
              </a:rPr>
              <a:t>Fine-tuning on benchmark data = data leakage</a:t>
            </a:r>
          </a:p>
          <a:p>
            <a:pPr>
              <a:spcBef>
                <a:spcPts val="200"/>
              </a:spcBef>
            </a:pPr>
            <a:r>
              <a:rPr b="0" sz="1500">
                <a:solidFill>
                  <a:srgbClr val="94A3B8"/>
                </a:solidFill>
                <a:latin typeface="Consolas"/>
              </a:rPr>
              <a:t>  → Caught it, switched to LMSYS for training</a:t>
            </a:r>
          </a:p>
          <a:p>
            <a:pPr>
              <a:spcBef>
                <a:spcPts val="1400"/>
              </a:spcBef>
            </a:pPr>
            <a:r>
              <a:rPr b="1" sz="1500">
                <a:solidFill>
                  <a:srgbClr val="EF4444"/>
                </a:solidFill>
                <a:latin typeface="Consolas"/>
              </a:rPr>
              <a:t>✗ </a:t>
            </a:r>
            <a:r>
              <a:rPr b="1" sz="1600">
                <a:solidFill>
                  <a:srgbClr val="FFFFFF"/>
                </a:solidFill>
                <a:latin typeface="Calibri"/>
              </a:rPr>
              <a:t>Keyword fallback was silently active</a:t>
            </a:r>
          </a:p>
          <a:p>
            <a:pPr>
              <a:spcBef>
                <a:spcPts val="200"/>
              </a:spcBef>
            </a:pPr>
            <a:r>
              <a:rPr b="0" sz="1500">
                <a:solidFill>
                  <a:srgbClr val="94A3B8"/>
                </a:solidFill>
                <a:latin typeface="Consolas"/>
              </a:rPr>
              <a:t>  → Embeddings weren't loading, nobody noticed</a:t>
            </a:r>
          </a:p>
          <a:p>
            <a:pPr>
              <a:spcBef>
                <a:spcPts val="200"/>
              </a:spcBef>
            </a:pPr>
            <a:r>
              <a:rPr b="0" sz="1500">
                <a:solidFill>
                  <a:srgbClr val="94A3B8"/>
                </a:solidFill>
                <a:latin typeface="Consolas"/>
              </a:rPr>
              <a:t>  → Added </a:t>
            </a:r>
            <a:r>
              <a:rPr b="1" sz="1500">
                <a:solidFill>
                  <a:srgbClr val="22C55E"/>
                </a:solidFill>
                <a:latin typeface="Consolas"/>
              </a:rPr>
              <a:t>loud failure mode</a:t>
            </a:r>
            <a:r>
              <a:rPr b="0" sz="1500">
                <a:solidFill>
                  <a:srgbClr val="94A3B8"/>
                </a:solidFill>
                <a:latin typeface="Consolas"/>
              </a:rPr>
              <a:t> — no silent fallbacks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Calibri"/>
              </a:defRPr>
            </a:pPr>
            <a:r>
              <a:t>How This Fits A10's Mission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554480"/>
            <a:ext cx="57908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971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FFFFFF"/>
                </a:solidFill>
                <a:latin typeface="Calibri"/>
              </a:rPr>
              <a:t>A10 AI Firewall (guardrails)</a:t>
            </a:r>
            <a:r>
              <a:rPr b="0" sz="1500">
                <a:solidFill>
                  <a:srgbClr val="94A3B8"/>
                </a:solidFill>
                <a:latin typeface="Consolas"/>
              </a:rPr>
              <a:t>     </a:t>
            </a:r>
            <a:r>
              <a:rPr b="1" sz="1800">
                <a:solidFill>
                  <a:srgbClr val="FFFFFF"/>
                </a:solidFill>
                <a:latin typeface="Calibri"/>
              </a:rPr>
              <a:t>Our Router (optimization)</a:t>
            </a:r>
          </a:p>
          <a:p>
            <a:pPr>
              <a:spcBef>
                <a:spcPts val="1600"/>
              </a:spcBef>
            </a:pPr>
            <a:r>
              <a:rPr b="1" sz="1500">
                <a:solidFill>
                  <a:srgbClr val="EF4444"/>
                </a:solidFill>
                <a:latin typeface="Consolas"/>
              </a:rPr>
              <a:t>"Is this prompt SAFE?"</a:t>
            </a:r>
            <a:r>
              <a:rPr b="0" sz="1500">
                <a:solidFill>
                  <a:srgbClr val="94A3B8"/>
                </a:solidFill>
                <a:latin typeface="Consolas"/>
              </a:rPr>
              <a:t>           </a:t>
            </a:r>
            <a:r>
              <a:rPr b="1" sz="1500">
                <a:solidFill>
                  <a:srgbClr val="22C55E"/>
                </a:solidFill>
                <a:latin typeface="Consolas"/>
              </a:rPr>
              <a:t>"Which model HANDLES this best?"</a:t>
            </a:r>
          </a:p>
          <a:p>
            <a:pPr>
              <a:spcBef>
                <a:spcPts val="2400"/>
              </a:spcBef>
            </a:pPr>
            <a:r>
              <a:rPr b="1" sz="2000">
                <a:solidFill>
                  <a:srgbClr val="FFFFFF"/>
                </a:solidFill>
                <a:latin typeface="Calibri"/>
              </a:rPr>
              <a:t>Together:</a:t>
            </a:r>
          </a:p>
          <a:p>
            <a:pPr>
              <a:spcBef>
                <a:spcPts val="1200"/>
              </a:spcBef>
            </a:pPr>
            <a:r>
              <a:rPr b="0" sz="1500">
                <a:solidFill>
                  <a:srgbClr val="94A3B8"/>
                </a:solidFill>
                <a:latin typeface="Consolas"/>
              </a:rPr>
              <a:t>  Prompt → </a:t>
            </a:r>
            <a:r>
              <a:rPr b="1" sz="1500">
                <a:solidFill>
                  <a:srgbClr val="EF4444"/>
                </a:solidFill>
                <a:latin typeface="Consolas"/>
              </a:rPr>
              <a:t>A10 Guardrail</a:t>
            </a:r>
            <a:r>
              <a:rPr b="0" sz="1500">
                <a:solidFill>
                  <a:srgbClr val="94A3B8"/>
                </a:solidFill>
                <a:latin typeface="Consolas"/>
              </a:rPr>
              <a:t> → </a:t>
            </a:r>
            <a:r>
              <a:rPr b="1" sz="1500">
                <a:solidFill>
                  <a:srgbClr val="3B82F6"/>
                </a:solidFill>
                <a:latin typeface="Consolas"/>
              </a:rPr>
              <a:t>Smart Router</a:t>
            </a:r>
            <a:r>
              <a:rPr b="0" sz="1500">
                <a:solidFill>
                  <a:srgbClr val="94A3B8"/>
                </a:solidFill>
                <a:latin typeface="Consolas"/>
              </a:rPr>
              <a:t> → </a:t>
            </a:r>
            <a:r>
              <a:rPr b="1" sz="1500">
                <a:solidFill>
                  <a:srgbClr val="22C55E"/>
                </a:solidFill>
                <a:latin typeface="Consolas"/>
              </a:rPr>
              <a:t>Best LLM</a:t>
            </a:r>
            <a:r>
              <a:rPr b="0" sz="1500">
                <a:solidFill>
                  <a:srgbClr val="94A3B8"/>
                </a:solidFill>
                <a:latin typeface="Consolas"/>
              </a:rPr>
              <a:t> → Response</a:t>
            </a:r>
          </a:p>
          <a:p>
            <a:pPr>
              <a:spcBef>
                <a:spcPts val="400"/>
              </a:spcBef>
            </a:pPr>
            <a:r>
              <a:rPr b="0" sz="1500">
                <a:solidFill>
                  <a:srgbClr val="94A3B8"/>
                </a:solidFill>
                <a:latin typeface="Consolas"/>
              </a:rPr>
              <a:t>           </a:t>
            </a:r>
            <a:r>
              <a:rPr b="0" sz="1500">
                <a:solidFill>
                  <a:srgbClr val="EF4444"/>
                </a:solidFill>
                <a:latin typeface="Consolas"/>
              </a:rPr>
              <a:t>(block threats)</a:t>
            </a:r>
            <a:r>
              <a:rPr b="0" sz="1500">
                <a:solidFill>
                  <a:srgbClr val="94A3B8"/>
                </a:solidFill>
                <a:latin typeface="Consolas"/>
              </a:rPr>
              <a:t>  </a:t>
            </a:r>
            <a:r>
              <a:rPr b="0" sz="1500">
                <a:solidFill>
                  <a:srgbClr val="3B82F6"/>
                </a:solidFill>
                <a:latin typeface="Consolas"/>
              </a:rPr>
              <a:t>(optimize cost)</a:t>
            </a:r>
            <a:r>
              <a:rPr b="0" sz="1500">
                <a:solidFill>
                  <a:srgbClr val="94A3B8"/>
                </a:solidFill>
                <a:latin typeface="Consolas"/>
              </a:rPr>
              <a:t>  </a:t>
            </a:r>
            <a:r>
              <a:rPr b="0" sz="1500">
                <a:solidFill>
                  <a:srgbClr val="22C55E"/>
                </a:solidFill>
                <a:latin typeface="Consolas"/>
              </a:rPr>
              <a:t>(generate)</a:t>
            </a:r>
          </a:p>
          <a:p>
            <a:pPr>
              <a:spcBef>
                <a:spcPts val="2400"/>
              </a:spcBef>
            </a:pPr>
            <a:r>
              <a:rPr b="0" sz="1500">
                <a:solidFill>
                  <a:srgbClr val="94A3B8"/>
                </a:solidFill>
                <a:latin typeface="Consolas"/>
              </a:rPr>
              <a:t>From </a:t>
            </a:r>
            <a:r>
              <a:rPr b="1" sz="1500">
                <a:solidFill>
                  <a:srgbClr val="8B5CF6"/>
                </a:solidFill>
                <a:latin typeface="Consolas"/>
              </a:rPr>
              <a:t>ATEN-tion</a:t>
            </a:r>
            <a:r>
              <a:rPr b="0" sz="1500">
                <a:solidFill>
                  <a:srgbClr val="94A3B8"/>
                </a:solidFill>
                <a:latin typeface="Consolas"/>
              </a:rPr>
              <a:t> (detect) to </a:t>
            </a:r>
            <a:r>
              <a:rPr b="1" sz="1500">
                <a:solidFill>
                  <a:srgbClr val="8B5CF6"/>
                </a:solidFill>
                <a:latin typeface="Consolas"/>
              </a:rPr>
              <a:t>In-TEN-tion</a:t>
            </a:r>
            <a:r>
              <a:rPr b="0" sz="1500">
                <a:solidFill>
                  <a:srgbClr val="94A3B8"/>
                </a:solidFill>
                <a:latin typeface="Consolas"/>
              </a:rPr>
              <a:t> (act intelligently)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Calibri"/>
              </a:defRPr>
            </a:pPr>
            <a:r>
              <a:t>Repo &amp; Links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554480"/>
            <a:ext cx="57908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971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3B82F6"/>
                </a:solidFill>
                <a:latin typeface="Consolas"/>
              </a:rPr>
              <a:t>github.com/kitrakrev/smart-router-multi-modal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94A3B8"/>
                </a:solidFill>
                <a:latin typeface="Consolas"/>
              </a:rPr>
              <a:t>├── </a:t>
            </a:r>
            <a:r>
              <a:rPr b="1" sz="1400">
                <a:solidFill>
                  <a:srgbClr val="FFFFFF"/>
                </a:solidFill>
                <a:latin typeface="Consolas"/>
              </a:rPr>
              <a:t>server.py</a:t>
            </a:r>
            <a:r>
              <a:rPr b="0" sz="1400">
                <a:solidFill>
                  <a:srgbClr val="94A3B8"/>
                </a:solidFill>
                <a:latin typeface="Consolas"/>
              </a:rPr>
              <a:t>          FastAPI, OpenAI-compatible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94A3B8"/>
                </a:solidFill>
                <a:latin typeface="Consolas"/>
              </a:rPr>
              <a:t>├── </a:t>
            </a:r>
            <a:r>
              <a:rPr b="1" sz="1400">
                <a:solidFill>
                  <a:srgbClr val="FFFFFF"/>
                </a:solidFill>
                <a:latin typeface="Consolas"/>
              </a:rPr>
              <a:t>signals.py</a:t>
            </a:r>
            <a:r>
              <a:rPr b="0" sz="1400">
                <a:solidFill>
                  <a:srgbClr val="94A3B8"/>
                </a:solidFill>
                <a:latin typeface="Consolas"/>
              </a:rPr>
              <a:t>         9 signal extractors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94A3B8"/>
                </a:solidFill>
                <a:latin typeface="Consolas"/>
              </a:rPr>
              <a:t>├── </a:t>
            </a:r>
            <a:r>
              <a:rPr b="1" sz="1400">
                <a:solidFill>
                  <a:srgbClr val="FFFFFF"/>
                </a:solidFill>
                <a:latin typeface="Consolas"/>
              </a:rPr>
              <a:t>router.py</a:t>
            </a:r>
            <a:r>
              <a:rPr b="0" sz="1400">
                <a:solidFill>
                  <a:srgbClr val="94A3B8"/>
                </a:solidFill>
                <a:latin typeface="Consolas"/>
              </a:rPr>
              <a:t>          Decision embedding matcher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94A3B8"/>
                </a:solidFill>
                <a:latin typeface="Consolas"/>
              </a:rPr>
              <a:t>├── </a:t>
            </a:r>
            <a:r>
              <a:rPr b="1" sz="1400">
                <a:solidFill>
                  <a:srgbClr val="FFFFFF"/>
                </a:solidFill>
                <a:latin typeface="Consolas"/>
              </a:rPr>
              <a:t>models.py</a:t>
            </a:r>
            <a:r>
              <a:rPr b="0" sz="1400">
                <a:solidFill>
                  <a:srgbClr val="94A3B8"/>
                </a:solidFill>
                <a:latin typeface="Consolas"/>
              </a:rPr>
              <a:t>          Dynamic model registry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94A3B8"/>
                </a:solidFill>
                <a:latin typeface="Consolas"/>
              </a:rPr>
              <a:t>├── </a:t>
            </a:r>
            <a:r>
              <a:rPr b="1" sz="1400">
                <a:solidFill>
                  <a:srgbClr val="FFFFFF"/>
                </a:solidFill>
                <a:latin typeface="Consolas"/>
              </a:rPr>
              <a:t>tools.py</a:t>
            </a:r>
            <a:r>
              <a:rPr b="0" sz="1400">
                <a:solidFill>
                  <a:srgbClr val="94A3B8"/>
                </a:solidFill>
                <a:latin typeface="Consolas"/>
              </a:rPr>
              <a:t>           11 security tools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94A3B8"/>
                </a:solidFill>
                <a:latin typeface="Consolas"/>
              </a:rPr>
              <a:t>├── </a:t>
            </a:r>
            <a:r>
              <a:rPr b="1" sz="1400">
                <a:solidFill>
                  <a:srgbClr val="FFFFFF"/>
                </a:solidFill>
                <a:latin typeface="Consolas"/>
              </a:rPr>
              <a:t>index.html</a:t>
            </a:r>
            <a:r>
              <a:rPr b="0" sz="1400">
                <a:solidFill>
                  <a:srgbClr val="94A3B8"/>
                </a:solidFill>
                <a:latin typeface="Consolas"/>
              </a:rPr>
              <a:t>         5-tab live dashboard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94A3B8"/>
                </a:solidFill>
                <a:latin typeface="Consolas"/>
              </a:rPr>
              <a:t>├── </a:t>
            </a:r>
            <a:r>
              <a:rPr b="1" sz="1400">
                <a:solidFill>
                  <a:srgbClr val="FFFFFF"/>
                </a:solidFill>
                <a:latin typeface="Consolas"/>
              </a:rPr>
              <a:t>benchmarks/</a:t>
            </a:r>
            <a:r>
              <a:rPr b="0" sz="1400">
                <a:solidFill>
                  <a:srgbClr val="94A3B8"/>
                </a:solidFill>
                <a:latin typeface="Consolas"/>
              </a:rPr>
              <a:t>        RouterArena + VL-RouterBench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94A3B8"/>
                </a:solidFill>
                <a:latin typeface="Consolas"/>
              </a:rPr>
              <a:t>└── </a:t>
            </a:r>
            <a:r>
              <a:rPr b="1" sz="1400">
                <a:solidFill>
                  <a:srgbClr val="FFFFFF"/>
                </a:solidFill>
                <a:latin typeface="Consolas"/>
              </a:rPr>
              <a:t>train_routing_embeddings.py</a:t>
            </a:r>
          </a:p>
          <a:p>
            <a:pPr>
              <a:spcBef>
                <a:spcPts val="2000"/>
              </a:spcBef>
            </a:pPr>
            <a:r>
              <a:rPr b="1" sz="1500">
                <a:solidFill>
                  <a:srgbClr val="8B5CF6"/>
                </a:solidFill>
                <a:latin typeface="Consolas"/>
              </a:rPr>
              <a:t>HuggingFace: </a:t>
            </a:r>
            <a:r>
              <a:rPr b="0" sz="1500">
                <a:solidFill>
                  <a:srgbClr val="94A3B8"/>
                </a:solidFill>
                <a:latin typeface="Consolas"/>
              </a:rPr>
              <a:t>kitrakrev/smart-router-embeddings</a:t>
            </a:r>
          </a:p>
          <a:p>
            <a:pPr>
              <a:spcBef>
                <a:spcPts val="400"/>
              </a:spcBef>
            </a:pPr>
            <a:r>
              <a:rPr b="1" sz="1500">
                <a:solidFill>
                  <a:srgbClr val="3B82F6"/>
                </a:solidFill>
                <a:latin typeface="Consolas"/>
              </a:rPr>
              <a:t>Dashboard:   </a:t>
            </a:r>
            <a:r>
              <a:rPr b="0" sz="1500">
                <a:solidFill>
                  <a:srgbClr val="94A3B8"/>
                </a:solidFill>
                <a:latin typeface="Consolas"/>
              </a:rPr>
              <a:t>http://localhost:8000/dashboard</a:t>
            </a:r>
          </a:p>
          <a:p>
            <a:pPr>
              <a:spcBef>
                <a:spcPts val="2400"/>
              </a:spcBef>
            </a:pPr>
            <a:r>
              <a:rPr b="0" sz="2200">
                <a:solidFill>
                  <a:srgbClr val="94A3B8"/>
                </a:solidFill>
                <a:latin typeface="Calibri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